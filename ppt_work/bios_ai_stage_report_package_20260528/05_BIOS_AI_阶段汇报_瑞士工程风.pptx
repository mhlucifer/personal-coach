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3f5309f24e14fc0" /><Relationship Type="http://schemas.openxmlformats.org/officeDocument/2006/relationships/extended-properties" Target="/docProps/app.xml" Id="R53cf829ba82f4675" /><Relationship Type="http://schemas.openxmlformats.org/officeDocument/2006/relationships/officeDocument" Target="/ppt/presentation.xml" Id="R435a6247d42b482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b94839904634eaf"/>
  </p:sldMasterIdLst>
  <p:notesMasterIdLst>
    <p:notesMasterId xmlns:r="http://schemas.openxmlformats.org/officeDocument/2006/relationships" r:id="Rb2ee10f815a44a64"/>
  </p:notesMasterIdLst>
  <p:sldIdLst>
    <p:sldId xmlns:r="http://schemas.openxmlformats.org/officeDocument/2006/relationships" id="256" r:id="R7ea82245d1d64d00"/>
    <p:sldId xmlns:r="http://schemas.openxmlformats.org/officeDocument/2006/relationships" id="257" r:id="R301d2b2c1e394273"/>
    <p:sldId xmlns:r="http://schemas.openxmlformats.org/officeDocument/2006/relationships" id="258" r:id="R0b70a1bfa98840b3"/>
    <p:sldId xmlns:r="http://schemas.openxmlformats.org/officeDocument/2006/relationships" id="259" r:id="R4f613dbccb964da4"/>
    <p:sldId xmlns:r="http://schemas.openxmlformats.org/officeDocument/2006/relationships" id="260" r:id="R57b8419c030c47da"/>
    <p:sldId xmlns:r="http://schemas.openxmlformats.org/officeDocument/2006/relationships" id="261" r:id="Rb6827ad651d7479a"/>
    <p:sldId xmlns:r="http://schemas.openxmlformats.org/officeDocument/2006/relationships" id="262" r:id="Rce025a3a82204b0a"/>
    <p:sldId xmlns:r="http://schemas.openxmlformats.org/officeDocument/2006/relationships" id="263" r:id="R95f1757a68824c33"/>
    <p:sldId xmlns:r="http://schemas.openxmlformats.org/officeDocument/2006/relationships" id="264" r:id="Rc957f23bbc654c95"/>
    <p:sldId xmlns:r="http://schemas.openxmlformats.org/officeDocument/2006/relationships" id="265" r:id="R1f0b8a1b95bd45ab"/>
    <p:sldId xmlns:r="http://schemas.openxmlformats.org/officeDocument/2006/relationships" id="266" r:id="R96bf72886c44435c"/>
    <p:sldId xmlns:r="http://schemas.openxmlformats.org/officeDocument/2006/relationships" id="267" r:id="R546b8645afeb43a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94839904634eaf" /><Relationship Type="http://schemas.openxmlformats.org/officeDocument/2006/relationships/theme" Target="/ppt/theme/theme1.xml" Id="R6970504b1b574179" /><Relationship Type="http://schemas.openxmlformats.org/officeDocument/2006/relationships/notesMaster" Target="/ppt/notesMasters/notesMaster1.xml" Id="Rb2ee10f815a44a64" /><Relationship Type="http://schemas.openxmlformats.org/officeDocument/2006/relationships/presProps" Target="/ppt/presProps.xml" Id="R78a63628fe374c27" /><Relationship Type="http://schemas.openxmlformats.org/officeDocument/2006/relationships/viewProps" Target="/ppt/viewProps.xml" Id="R9d5b5c9f6f3c4bd0" /><Relationship Type="http://schemas.openxmlformats.org/officeDocument/2006/relationships/tableStyles" Target="/ppt/tableStyles.xml" Id="R2a77ac3a92fd4283" /><Relationship Type="http://schemas.openxmlformats.org/officeDocument/2006/relationships/slide" Target="/ppt/slides/slide1.xml" Id="R7ea82245d1d64d00" /><Relationship Type="http://schemas.openxmlformats.org/officeDocument/2006/relationships/slide" Target="/ppt/slides/slide2.xml" Id="R301d2b2c1e394273" /><Relationship Type="http://schemas.openxmlformats.org/officeDocument/2006/relationships/slide" Target="/ppt/slides/slide3.xml" Id="R0b70a1bfa98840b3" /><Relationship Type="http://schemas.openxmlformats.org/officeDocument/2006/relationships/slide" Target="/ppt/slides/slide4.xml" Id="R4f613dbccb964da4" /><Relationship Type="http://schemas.openxmlformats.org/officeDocument/2006/relationships/slide" Target="/ppt/slides/slide5.xml" Id="R57b8419c030c47da" /><Relationship Type="http://schemas.openxmlformats.org/officeDocument/2006/relationships/slide" Target="/ppt/slides/slide6.xml" Id="Rb6827ad651d7479a" /><Relationship Type="http://schemas.openxmlformats.org/officeDocument/2006/relationships/slide" Target="/ppt/slides/slide7.xml" Id="Rce025a3a82204b0a" /><Relationship Type="http://schemas.openxmlformats.org/officeDocument/2006/relationships/slide" Target="/ppt/slides/slide8.xml" Id="R95f1757a68824c33" /><Relationship Type="http://schemas.openxmlformats.org/officeDocument/2006/relationships/slide" Target="/ppt/slides/slide9.xml" Id="Rc957f23bbc654c95" /><Relationship Type="http://schemas.openxmlformats.org/officeDocument/2006/relationships/slide" Target="/ppt/slides/slide10.xml" Id="R1f0b8a1b95bd45ab" /><Relationship Type="http://schemas.openxmlformats.org/officeDocument/2006/relationships/slide" Target="/ppt/slides/slide11.xml" Id="R96bf72886c44435c" /><Relationship Type="http://schemas.openxmlformats.org/officeDocument/2006/relationships/slide" Target="/ppt/slides/slide12.xml" Id="R546b8645afeb43a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41ff0382489947f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c6b9121dfd242c3" /><Relationship Type="http://schemas.openxmlformats.org/officeDocument/2006/relationships/notesMaster" Target="/ppt/notesMasters/notesMaster1.xml" Id="Rbd7aecc1f0f2412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dbac3d300714bd2" /><Relationship Type="http://schemas.openxmlformats.org/officeDocument/2006/relationships/notesMaster" Target="/ppt/notesMasters/notesMaster1.xml" Id="R071a7cb5a33a4fb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3de7241d49340a7" /><Relationship Type="http://schemas.openxmlformats.org/officeDocument/2006/relationships/notesMaster" Target="/ppt/notesMasters/notesMaster1.xml" Id="Rdf0f192891b5448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cf81145790145dd" /><Relationship Type="http://schemas.openxmlformats.org/officeDocument/2006/relationships/notesMaster" Target="/ppt/notesMasters/notesMaster1.xml" Id="Rc6d6db771286435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1cf218d0b534182" /><Relationship Type="http://schemas.openxmlformats.org/officeDocument/2006/relationships/notesMaster" Target="/ppt/notesMasters/notesMaster1.xml" Id="R3a182d02be684c9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c81c3cacc12440d" /><Relationship Type="http://schemas.openxmlformats.org/officeDocument/2006/relationships/notesMaster" Target="/ppt/notesMasters/notesMaster1.xml" Id="R5f257b8e30714fc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f2fa78188224dcf" /><Relationship Type="http://schemas.openxmlformats.org/officeDocument/2006/relationships/notesMaster" Target="/ppt/notesMasters/notesMaster1.xml" Id="Rb67ee3d99e8d467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630f11af63c487d" /><Relationship Type="http://schemas.openxmlformats.org/officeDocument/2006/relationships/notesMaster" Target="/ppt/notesMasters/notesMaster1.xml" Id="Rc526be7616b6455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ded6e148bc34f6b" /><Relationship Type="http://schemas.openxmlformats.org/officeDocument/2006/relationships/notesMaster" Target="/ppt/notesMasters/notesMaster1.xml" Id="Rad066b0c10344b9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4ee88d8d15a43b3" /><Relationship Type="http://schemas.openxmlformats.org/officeDocument/2006/relationships/notesMaster" Target="/ppt/notesMasters/notesMaster1.xml" Id="R1ee5bafc3e734f8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358749b39ef4cb8" /><Relationship Type="http://schemas.openxmlformats.org/officeDocument/2006/relationships/notesMaster" Target="/ppt/notesMasters/notesMaster1.xml" Id="Rcb0c0d6ebbe34bc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d20c404875e4218" /><Relationship Type="http://schemas.openxmlformats.org/officeDocument/2006/relationships/notesMaster" Target="/ppt/notesMasters/notesMaster1.xml" Id="Rccd1fdbac4cc4d2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90511a0dbd4a84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b6fab27c99804529" /><Relationship Type="http://schemas.openxmlformats.org/officeDocument/2006/relationships/slideLayout" Target="/ppt/slideLayouts/slideLayout2.xml" Id="R6e4d5cd2cb0d4bd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e4d5cd2cb0d4bd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60cec10437e4c5b" /><Relationship Type="http://schemas.openxmlformats.org/officeDocument/2006/relationships/notesSlide" Target="/ppt/notesSlides/notesSlide1.xml" Id="R7fefd7978e4944f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5170638d0294bed" /><Relationship Type="http://schemas.openxmlformats.org/officeDocument/2006/relationships/notesSlide" Target="/ppt/notesSlides/notesSlide2.xml" Id="R8856455d35bc4b0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273c9ecad034162" /><Relationship Type="http://schemas.openxmlformats.org/officeDocument/2006/relationships/notesSlide" Target="/ppt/notesSlides/notesSlide3.xml" Id="R10c4f9f23070441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adbf8e62f81437c" /><Relationship Type="http://schemas.openxmlformats.org/officeDocument/2006/relationships/notesSlide" Target="/ppt/notesSlides/notesSlide4.xml" Id="R063e65a1b28e48f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6ed3a07044b4c5e" /><Relationship Type="http://schemas.openxmlformats.org/officeDocument/2006/relationships/notesSlide" Target="/ppt/notesSlides/notesSlide5.xml" Id="Ra12998400e0643c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ebc190de7b54e3e" /><Relationship Type="http://schemas.openxmlformats.org/officeDocument/2006/relationships/image" Target="/ppt/media/image.png" Id="Rdec13fc211294917" /><Relationship Type="http://schemas.openxmlformats.org/officeDocument/2006/relationships/notesSlide" Target="/ppt/notesSlides/notesSlide6.xml" Id="R325d86b21c3b423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163696f2df4785" /><Relationship Type="http://schemas.openxmlformats.org/officeDocument/2006/relationships/image" Target="/ppt/media/image2.png" Id="Ra42883fd11764322" /><Relationship Type="http://schemas.openxmlformats.org/officeDocument/2006/relationships/notesSlide" Target="/ppt/notesSlides/notesSlide7.xml" Id="Rb1fc0306396a45a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ee67939a1c4ebb" /><Relationship Type="http://schemas.openxmlformats.org/officeDocument/2006/relationships/image" Target="/ppt/media/image3.png" Id="R16d33a5448754678" /><Relationship Type="http://schemas.openxmlformats.org/officeDocument/2006/relationships/image" Target="/ppt/media/image4.png" Id="R33e762781b3941d4" /><Relationship Type="http://schemas.openxmlformats.org/officeDocument/2006/relationships/notesSlide" Target="/ppt/notesSlides/notesSlide8.xml" Id="R3a79ca5228934e9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1c52d1f38d84d7d" /><Relationship Type="http://schemas.openxmlformats.org/officeDocument/2006/relationships/image" Target="/ppt/media/image5.png" Id="Rffc76aa5679a4f4b" /><Relationship Type="http://schemas.openxmlformats.org/officeDocument/2006/relationships/image" Target="/ppt/media/image6.png" Id="Ra6dfff85c5384365" /><Relationship Type="http://schemas.openxmlformats.org/officeDocument/2006/relationships/notesSlide" Target="/ppt/notesSlides/notesSlide9.xml" Id="Raaea52abbebd4e5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e117d05c0e0467c" /><Relationship Type="http://schemas.openxmlformats.org/officeDocument/2006/relationships/image" Target="/ppt/media/image7.png" Id="R84cfe77cfce9458e" /><Relationship Type="http://schemas.openxmlformats.org/officeDocument/2006/relationships/notesSlide" Target="/ppt/notesSlides/notesSlide10.xml" Id="Reba9c3814b82454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ccf451a51b84988" /><Relationship Type="http://schemas.openxmlformats.org/officeDocument/2006/relationships/image" Target="/ppt/media/image.jpeg" Id="Re67978dd31e14df3" /><Relationship Type="http://schemas.openxmlformats.org/officeDocument/2006/relationships/notesSlide" Target="/ppt/notesSlides/notesSlide11.xml" Id="R53998ac4e2d043a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1f9484f9a94e8d" /><Relationship Type="http://schemas.openxmlformats.org/officeDocument/2006/relationships/notesSlide" Target="/ppt/notesSlides/notesSlide12.xml" Id="R455e38b89f9341f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FFFE5F2-4ABF-4C12-B241-6F523C629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84D79F-9091-42D6-9224-0269AD7C6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29FCDD-BE04-4D62-9CE2-DBE44F0DC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1333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6385C4-3D1D-4DE7-A015-5774CAC5A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333500"/>
            <a:ext cx="7048500" cy="7239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5月月度汇报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BC9DA5-DC6E-4C6F-9599-0E05B4935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33600"/>
            <a:ext cx="7239000" cy="4572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BIOS / SMBIOS 适配与 AI 辅助工程闭环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3B6B7A-7B02-4E7C-BB82-0FFAF339B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781300"/>
            <a:ext cx="7429500" cy="3238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客户需求交付 · SMBIOS 适配重构 · AI 辅助开发验证复核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D385FF-AE30-40DB-9C0C-33386944B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971550"/>
            <a:ext cx="2190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F8ECD8-F15E-4182-A420-BD59DEE7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371600"/>
            <a:ext cx="13906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0CB145-A608-404F-9D7B-1C1D16A45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752600"/>
            <a:ext cx="116205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11827"/>
                </a:solidFill>
                <a:latin typeface="Menlo"/>
                <a:ea typeface="Menlo"/>
                <a:cs typeface="Menlo"/>
              </a:defRPr>
            </a:pPr>
            <a:r>
              <a:rPr sz="1725" b="1">
                <a:solidFill>
                  <a:srgbClr val="111827"/>
                </a:solidFill>
                <a:latin typeface="Menlo"/>
                <a:ea typeface="Menlo"/>
                <a:cs typeface="Menlo"/>
              </a:rPr>
              <a:t>SMBIOS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E71592-9AEE-474C-BED9-AE066AC08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114550"/>
            <a:ext cx="819150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3000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AI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7E3E0D-EA50-4553-AF87-E7F6345B8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57700"/>
            <a:ext cx="590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652280-13D4-424B-9C7D-B8829FE3D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05350"/>
            <a:ext cx="24765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73140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273140"/>
                </a:solidFill>
                <a:latin typeface="Menlo"/>
                <a:ea typeface="Menlo"/>
                <a:cs typeface="Menlo"/>
              </a:rPr>
              <a:t>2026 年 5 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6D9650-5592-4ABB-8332-BA8B4A474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10150"/>
            <a:ext cx="20955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BIOS 腾讯组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C0295B-3F2C-4E45-AF27-9CA92CC9E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905500"/>
            <a:ext cx="24765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5B6472"/>
                </a:solidFill>
                <a:latin typeface="Menlo"/>
                <a:ea typeface="Menlo"/>
                <a:cs typeface="Menlo"/>
              </a:rPr>
              <a:t>SWISS ENGINEERING REPORT</a:t>
            </a:r>
          </a:p>
        </p:txBody>
      </p:sp>
    </p:spTree>
    <p:extLst>
      <p:ext uri="{BB962C8B-B14F-4D97-AF65-F5344CB8AC3E}">
        <p14:creationId xmlns:p14="http://schemas.microsoft.com/office/powerpoint/2010/main" val="68729045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3A7519-3B1D-4DE4-B1B2-E511ED520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FDCE20-8111-4EA6-960E-4497E4F0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C989C7-0E4A-4C66-8D3C-81EB842A4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7145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EXECUTIVE SUMMARY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60FA80-271B-4E7A-A2B9-A9C68DA91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572500" cy="7048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6354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本阶段完成客户可见信息适配，并跑通 SMBIOS 场景的 AI 辅助工程最小闭环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6D2806-DF1A-4D30-9B68-0FFA43396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3BB4A5-A01C-4CB9-B2E6-58F644CCA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14350"/>
            <a:ext cx="4572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5B6472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B440BA-799C-4134-B54E-A107374E5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3276600" cy="2000250"/>
          </a:xfrm>
          <a:prstGeom xmlns:a="http://schemas.openxmlformats.org/drawingml/2006/main" prst="roundRect">
            <a:avLst>
              <a:gd name="adj" fmla="val 9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F44543-467F-4475-B92C-3FEE0D1CC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32766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7FEAB5-0E05-4A4F-B612-4E9C4EA4F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514350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2400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20E022-AE14-4525-95AB-C4E095121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57450"/>
            <a:ext cx="200025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客户问题闭环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0DD481-8B16-4454-B481-4E7E27E6F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6100"/>
            <a:ext cx="2781300" cy="7239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V3 遗留显示问题与 V5 新增问题单进入阶段处理，客户可见字段按需求适配。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05B2A9-D0E0-4B2D-BACF-86552656E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133600"/>
            <a:ext cx="3276600" cy="2000250"/>
          </a:xfrm>
          <a:prstGeom xmlns:a="http://schemas.openxmlformats.org/drawingml/2006/main" prst="roundRect">
            <a:avLst>
              <a:gd name="adj" fmla="val 9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505452-61D0-448E-A043-DF599D291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133600"/>
            <a:ext cx="32766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B886"/>
          </a:solidFill>
          <a:ln xmlns:a="http://schemas.openxmlformats.org/drawingml/2006/main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2A7706-C927-4107-9D90-C8972FAF7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00300"/>
            <a:ext cx="514350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2B886"/>
                </a:solidFill>
                <a:latin typeface="Menlo"/>
                <a:ea typeface="Menlo"/>
                <a:cs typeface="Menlo"/>
              </a:defRPr>
            </a:pPr>
            <a:r>
              <a:rPr sz="2400" b="1">
                <a:solidFill>
                  <a:srgbClr val="12B886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9C75B6-2B51-4FEE-B7DC-F0B5A529C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57450"/>
            <a:ext cx="200025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AI 辅助提效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6DE52A-57EC-425B-ADFE-9FDFCB1E3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086100"/>
            <a:ext cx="2781300" cy="7239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Type8 / Type9 / Type11 / Type12 等 SMBIOS 模块进入 AI 辅助重构流程。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AC7E53-ABE4-4011-9F21-2D65BA4FB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33600"/>
            <a:ext cx="3276600" cy="2000250"/>
          </a:xfrm>
          <a:prstGeom xmlns:a="http://schemas.openxmlformats.org/drawingml/2006/main" prst="roundRect">
            <a:avLst>
              <a:gd name="adj" fmla="val 9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B908CC-3739-48F3-BB9B-6FDAD3629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33600"/>
            <a:ext cx="32766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F00"/>
          </a:solidFill>
          <a:ln xmlns:a="http://schemas.openxmlformats.org/drawingml/2006/main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C67066-3130-494F-827A-F42D0BEDF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400300"/>
            <a:ext cx="514350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59F00"/>
                </a:solidFill>
                <a:latin typeface="Menlo"/>
                <a:ea typeface="Menlo"/>
                <a:cs typeface="Menlo"/>
              </a:defRPr>
            </a:pPr>
            <a:r>
              <a:rPr sz="2400" b="1">
                <a:solidFill>
                  <a:srgbClr val="F59F00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68DFFA-93B4-4ABA-9EDD-2BAC39A18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457450"/>
            <a:ext cx="200025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AI Review 能力建设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54A63D-AF40-4678-9244-D59D807EE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86100"/>
            <a:ext cx="2781300" cy="7239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SMBIOS 自动验证和 AI Review 开始沉淀日志、报告、上下文材料和风险处置记录。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D52B96-7D39-4D15-A22C-77E897FB8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43450"/>
            <a:ext cx="108204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8D5C9D-0032-4D87-A2E9-18FD52B5F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972050"/>
            <a:ext cx="104775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边界说明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7D68EE-7275-412E-B005-D670B47D3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972050"/>
            <a:ext cx="83820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当前 AI 提效聚焦 SMBIOS 场景，优先选择规则清晰、结果可比对、可复测的问题。</a:t>
            </a:r>
          </a:p>
        </p:txBody>
      </p:sp>
    </p:spTree>
    <p:extLst>
      <p:ext uri="{BB962C8B-B14F-4D97-AF65-F5344CB8AC3E}">
        <p14:creationId xmlns:p14="http://schemas.microsoft.com/office/powerpoint/2010/main" val="190792842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E00BBEE-20E1-4919-992C-0B99B80B3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00E56E-7DC2-4136-8AF0-E1035CCD2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DE7711-2F44-4007-B60A-A4D50929C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7145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AGENDA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73D97B-FEA9-4DA2-B05E-0F5E551D3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572500" cy="7048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本次汇报围绕工作成果、重点工作和下一步计划展开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145FD4-8849-46DF-AED2-5849F64C9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2D4079-5B40-40E7-AA01-C61C79A99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14350"/>
            <a:ext cx="4572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5B6472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49E79D-E04B-4BDE-B1C3-5ADD3E800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71650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2C9B4F-0D23-42B6-9099-30BDC24F6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952500" cy="4762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3150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71BC32-3716-425E-82C4-E8B220D52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038350"/>
            <a:ext cx="2476500" cy="3429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工作成果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91EEAE-5F1E-4CCE-B0EA-17B35337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24075"/>
            <a:ext cx="552450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客户需求响应、问题单闭环、AI 辅助工程闭环试点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DC1747-7038-4C5E-BBFE-A13A0C834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62275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96D282-AB1A-4642-BD58-4DD8405F6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90875"/>
            <a:ext cx="952500" cy="4762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3150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1F8726-E732-4C7C-9357-BA25FEDB6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228975"/>
            <a:ext cx="2476500" cy="3429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重点工作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058CBC-0003-4143-9CC9-0989E2C78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314700"/>
            <a:ext cx="552450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Type9 重构、自动化验证、Type8/11/12 规范化移植、AI 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21A4C1-5E4B-46BE-9CE5-460EE6635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52900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605D80-79C4-44C7-9EAC-34959BFDD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0"/>
            <a:ext cx="952500" cy="4762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3150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ADEAF3-4E84-4945-9388-B7C496548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419600"/>
            <a:ext cx="2476500" cy="3429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下一步计划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6BA07C-8E09-4682-AD98-C14A053D7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505325"/>
            <a:ext cx="552450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沉淀 SMBIOS 开发生成和测试问题修复两条 Agent 工作流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710C65-657D-452C-962F-A96D6708C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72125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</p:spTree>
    <p:extLst>
      <p:ext uri="{BB962C8B-B14F-4D97-AF65-F5344CB8AC3E}">
        <p14:creationId xmlns:p14="http://schemas.microsoft.com/office/powerpoint/2010/main" val="175111382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C7E7AB9-532D-4A9D-8A96-4B9445DCC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090190-7063-417D-B83D-329EC9922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FA6EA4-4D19-46AE-94BF-51AB7DB7F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7145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01 / WORK RESULTS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2EACE2-2AA5-44EA-A333-0DB10623E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572500" cy="7048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6354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V5 SMBIOS 客户可见字段适配和新增问题单完成阶段交付与持续推进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4D757D-C10E-45C1-856C-66B21BEC9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EBCEDD-8562-4061-8490-C32CD1E5D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14350"/>
            <a:ext cx="4572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5B6472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F5A5D5-2AC9-4951-BE00-ECCE05573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10096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B00DC1-04F9-4473-B6C5-598504D4A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66925"/>
            <a:ext cx="158877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工作项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E88B8F-E0FE-42BF-8477-8A66E5D0C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7470" y="2066925"/>
            <a:ext cx="5324475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交付结果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886763-5420-4F1A-9815-B707E6E0B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0545" y="2066925"/>
            <a:ext cx="2497455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状态口径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E69E50-BAEE-4A34-8018-C6584C651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0096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73A797-FF49-4E75-B9FC-72FB2B605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57500"/>
            <a:ext cx="158877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V3 遗留问题闭环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3AB77A-27CE-460B-9040-CD40EA16D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7470" y="2857500"/>
            <a:ext cx="5324475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013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修复 7 项 SMBIOS 显示问题，覆盖显示名异常、字段缺失、不显示等。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9C6116-0288-4F52-8EA4-07920328E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7695" y="2895600"/>
            <a:ext cx="2383155" cy="2476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8F2"/>
          </a:solidFill>
          <a:ln xmlns:a="http://schemas.openxmlformats.org/drawingml/2006/main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707ECD-E916-40D8-AEA8-85F96B172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2945" y="2933700"/>
            <a:ext cx="2192655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2B886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12B886"/>
                </a:solidFill>
                <a:latin typeface="PingFang SC"/>
                <a:ea typeface="PingFang SC"/>
                <a:cs typeface="PingFang SC"/>
              </a:rPr>
              <a:t>已上库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FBF336-81D1-4AEE-B0BB-991BEE223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10096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6D2AEF-2521-41EF-8006-786B8875D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0"/>
            <a:ext cx="158877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V5 新增问题单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3EF50A-1A02-413F-84E9-012BA4914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7470" y="3619500"/>
            <a:ext cx="5324475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013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覆盖 Type41 显示缺失、不插设备 boot 启动黑屏等问题。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8DE4AD-6741-4DC1-AA6B-2D8C4C05D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7695" y="3657600"/>
            <a:ext cx="2383155" cy="2476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97BC13-5B7A-451F-94EA-B28F00359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2945" y="3695700"/>
            <a:ext cx="2192655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59F00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F59F00"/>
                </a:solidFill>
                <a:latin typeface="PingFang SC"/>
                <a:ea typeface="PingFang SC"/>
                <a:cs typeface="PingFang SC"/>
              </a:rPr>
              <a:t>进行中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BABD9D-5A8D-4F17-9AC7-5701F8AC7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48150"/>
            <a:ext cx="10096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E0A642-0242-4E20-BB50-67568FE87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81500"/>
            <a:ext cx="158877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Type2 主板信息上报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EE0EC8-E2ED-412E-A121-6380E1560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7470" y="4381500"/>
            <a:ext cx="5324475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013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整合 PCB / BOARD / SKU 等客户可见字段。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EB9F4B-41AC-4B92-ACB2-4E370D04D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7695" y="4419600"/>
            <a:ext cx="2383155" cy="2476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8F2"/>
          </a:solidFill>
          <a:ln xmlns:a="http://schemas.openxmlformats.org/drawingml/2006/main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0B2110-BE64-4F00-9D24-EB37D3B76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2945" y="4457700"/>
            <a:ext cx="2192655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2B886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12B886"/>
                </a:solidFill>
                <a:latin typeface="PingFang SC"/>
                <a:ea typeface="PingFang SC"/>
                <a:cs typeface="PingFang SC"/>
              </a:rPr>
              <a:t>已上库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F2912C-72A6-488E-AD4B-1AF00E06A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10096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01C8744-BA28-4803-9163-05E6A9A1E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43500"/>
            <a:ext cx="158877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Type11 OEM 扩展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ADC2D88-E6B1-40A9-A44E-296AB5CE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7470" y="5143500"/>
            <a:ext cx="5324475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013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动态上报 TDX 相关 OEM 扩展信息。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21520C-0311-4D5A-BD04-A83D84F78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7695" y="5181600"/>
            <a:ext cx="2383155" cy="2476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8F2"/>
          </a:solidFill>
          <a:ln xmlns:a="http://schemas.openxmlformats.org/drawingml/2006/main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AC9BD3-BF90-4CAC-9763-0408CE0AA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2945" y="5219700"/>
            <a:ext cx="2192655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2B886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12B886"/>
                </a:solidFill>
                <a:latin typeface="PingFang SC"/>
                <a:ea typeface="PingFang SC"/>
                <a:cs typeface="PingFang SC"/>
              </a:rPr>
              <a:t>已上库</a:t>
            </a:r>
          </a:p>
        </p:txBody>
      </p:sp>
    </p:spTree>
    <p:extLst>
      <p:ext uri="{BB962C8B-B14F-4D97-AF65-F5344CB8AC3E}">
        <p14:creationId xmlns:p14="http://schemas.microsoft.com/office/powerpoint/2010/main" val="212213473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1424CFF-2E95-41E0-BD3D-D118C549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E09369-5283-4222-AD97-E05960E46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BCA70E-7DF9-4026-9B60-55C696EDD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7145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01 / WORK RESULTS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3BAFA9-5012-4E26-ABC5-B078CFB10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572500" cy="7048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6354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AI 辅助已进入 SMBIOS 开发、验证、AI Review 流程，但仍由工程师确认结果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316100-14B5-48EB-9A75-E95D7FD0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31BF68-4B50-4DB3-80BC-0D363DCE6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14350"/>
            <a:ext cx="4572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5B6472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B1C158-0A3E-4BA9-9824-3AFA6A076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52650"/>
            <a:ext cx="14287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CC03CD-CEC3-4E1A-88E6-07EF8DA51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120015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客户规则</a:t>
            </a:r>
          </a:p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历史实现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970EE5-A4F6-4600-8322-ABA0FA08E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343150"/>
            <a:ext cx="24765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D3E0B5-0ABE-482A-89FC-92328D938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152650"/>
            <a:ext cx="14287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BBB397-02BC-4561-AF04-4C0AEE6A3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266950"/>
            <a:ext cx="120015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AI 辅助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生成代码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A1B09C-44F5-4963-B505-624C1B00E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343150"/>
            <a:ext cx="24765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7AAE5C-C86D-409F-A11C-6BF5032B4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152650"/>
            <a:ext cx="14287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6C0D3E-13F7-4798-9740-923C2D3F5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266950"/>
            <a:ext cx="120015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自动化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验证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A70ABA-1C67-40A9-8987-D994AC2F2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343150"/>
            <a:ext cx="24765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8BBDBA-CF12-4534-B977-F6516CC7F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152650"/>
            <a:ext cx="14287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34503B-26EB-429A-8C57-F19E3CF3E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66950"/>
            <a:ext cx="120015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AI Review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FCC27D-E41E-43AC-B9ED-A083F81A5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343150"/>
            <a:ext cx="24765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598C6C-3594-47EC-9DC5-628D0AD8B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152650"/>
            <a:ext cx="14287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68823F-D87F-4D15-812D-915979C2D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266950"/>
            <a:ext cx="120015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人工确认</a:t>
            </a:r>
          </a:p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经验回流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F4F492-B64B-488D-B9F1-56C04F0BA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05250"/>
            <a:ext cx="2762250" cy="1333500"/>
          </a:xfrm>
          <a:prstGeom xmlns:a="http://schemas.openxmlformats.org/drawingml/2006/main" prst="roundRect">
            <a:avLst>
              <a:gd name="adj" fmla="val 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C21DDE-F487-4F64-BF69-783EB362B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05250"/>
            <a:ext cx="571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34F764-C498-4F06-B564-584FEF201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114800"/>
            <a:ext cx="234315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3137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2550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2700+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8A1674-A9FB-4E92-B304-6B8814523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533900"/>
            <a:ext cx="234315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行实现 / 重构代码量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A68C20C-0CD4-474E-9C31-DAA78879A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19650"/>
            <a:ext cx="234315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SMBIOS 相关规模参考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43EE66-B972-46B0-8625-A5A7F0E61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905250"/>
            <a:ext cx="2762250" cy="1333500"/>
          </a:xfrm>
          <a:prstGeom xmlns:a="http://schemas.openxmlformats.org/drawingml/2006/main" prst="roundRect">
            <a:avLst>
              <a:gd name="adj" fmla="val 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D4FD711-1E39-490C-892A-EEDCCED76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905250"/>
            <a:ext cx="571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B886"/>
          </a:solidFill>
          <a:ln xmlns:a="http://schemas.openxmlformats.org/drawingml/2006/main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4375030-750B-489A-B936-928933CD9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4114800"/>
            <a:ext cx="234315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3137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2B886"/>
                </a:solidFill>
                <a:latin typeface="Menlo"/>
                <a:ea typeface="Menlo"/>
                <a:cs typeface="Menlo"/>
              </a:defRPr>
            </a:pPr>
            <a:r>
              <a:rPr sz="2550" b="1">
                <a:solidFill>
                  <a:srgbClr val="12B886"/>
                </a:solidFill>
                <a:latin typeface="Menlo"/>
                <a:ea typeface="Menlo"/>
                <a:cs typeface="Menlo"/>
              </a:rPr>
              <a:t>9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1099E4A-5B06-4A9A-BC49-BC42E5D36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4533900"/>
            <a:ext cx="234315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类数据采集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F798D99-A329-4D20-A39F-122B88029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4819650"/>
            <a:ext cx="234315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SMBIOS 自动验证范围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ED8792-C869-41F5-9664-B332D5490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05250"/>
            <a:ext cx="2762250" cy="1333500"/>
          </a:xfrm>
          <a:prstGeom xmlns:a="http://schemas.openxmlformats.org/drawingml/2006/main" prst="roundRect">
            <a:avLst>
              <a:gd name="adj" fmla="val 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A367AF8-BCBF-4273-A694-C148F653A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05250"/>
            <a:ext cx="571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F00"/>
          </a:solidFill>
          <a:ln xmlns:a="http://schemas.openxmlformats.org/drawingml/2006/main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6E61D70-152B-490C-93E2-C0BDC1317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114800"/>
            <a:ext cx="234315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3137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9F00"/>
                </a:solidFill>
                <a:latin typeface="Menlo"/>
                <a:ea typeface="Menlo"/>
                <a:cs typeface="Menlo"/>
              </a:defRPr>
            </a:pPr>
            <a:r>
              <a:rPr sz="2550" b="1">
                <a:solidFill>
                  <a:srgbClr val="F59F00"/>
                </a:solidFill>
                <a:latin typeface="Menlo"/>
                <a:ea typeface="Menlo"/>
                <a:cs typeface="Menlo"/>
              </a:rPr>
              <a:t>降低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1A7EC3A-0EA4-4254-91C0-EA1A551B8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533900"/>
            <a:ext cx="234315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内存类问题风险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FFF3CF9-895C-4A43-AEBF-8A2F348F2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819650"/>
            <a:ext cx="234315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越界 / 泄漏 / 空指针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8E3A5AD-A9B8-4A78-861C-C3E1787D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657850"/>
            <a:ext cx="87630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AI 当前定位是辅助实现、辅助验证、辅助复核，不替代工程师判断。</a:t>
            </a:r>
          </a:p>
        </p:txBody>
      </p:sp>
    </p:spTree>
    <p:extLst>
      <p:ext uri="{BB962C8B-B14F-4D97-AF65-F5344CB8AC3E}">
        <p14:creationId xmlns:p14="http://schemas.microsoft.com/office/powerpoint/2010/main" val="30339815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B9AD92C-CA85-4163-80FF-F272B8856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25E7C0-2510-4B48-941C-9F902A399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801F06-F7E9-4162-BA7D-0AB80DC54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7145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02 / TYPE9 REFACTOR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AAE455-E598-435B-BCFC-D94259542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572500" cy="7048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Type9 多版型适配从“重复改代码”转为“维护显示规则”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CE90A0-5211-4276-8385-D170D638D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25329A-67EB-4820-9137-1345367EE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14350"/>
            <a:ext cx="4572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5B6472"/>
                </a:solidFill>
                <a:latin typeface="Menlo"/>
                <a:ea typeface="Menlo"/>
                <a:cs typeface="Menlo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EAE761-5CBA-4EFE-B1FE-E193A1498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62150"/>
            <a:ext cx="666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3131"/>
          </a:solidFill>
          <a:ln xmlns:a="http://schemas.openxmlformats.org/drawingml/2006/main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CFD160-F6DA-42FE-B357-A4C888157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71675"/>
            <a:ext cx="24765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改造前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9B0868-803C-4AC4-9A35-531C42A80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43150"/>
            <a:ext cx="2381250" cy="1524000"/>
          </a:xfrm>
          <a:prstGeom xmlns:a="http://schemas.openxmlformats.org/drawingml/2006/main" prst="roundRect">
            <a:avLst>
              <a:gd name="adj" fmla="val 1250"/>
            </a:avLst>
          </a:prstGeom>
          <a:solidFill xmlns:a="http://schemas.openxmlformats.org/drawingml/2006/main">
            <a:srgbClr val="FFF2F2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040A8D-136B-485C-8094-84514D975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051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3131"/>
          </a:solidFill>
          <a:ln xmlns:a="http://schemas.openxmlformats.org/drawingml/2006/main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898D3B-09F5-4B03-BEBB-BD0E6BAB1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28900"/>
            <a:ext cx="1657350" cy="4762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板型、部署模式、节点配置散落在代码分支中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13BB62-1350-401D-8A35-ECB48F987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528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3131"/>
          </a:solidFill>
          <a:ln xmlns:a="http://schemas.openxmlformats.org/drawingml/2006/main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E2A708-19EE-4CFD-B5D1-05F054496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76600"/>
            <a:ext cx="1657350" cy="400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新增版型需要继续改主流程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BA8A7C-8040-40D1-AD36-9C3334B92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962150"/>
            <a:ext cx="666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B886"/>
          </a:solidFill>
          <a:ln xmlns:a="http://schemas.openxmlformats.org/drawingml/2006/main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741E48-CE69-4D8A-8C0C-8F7F59262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971675"/>
            <a:ext cx="24765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改造后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6CD683-2AD0-4081-A11E-AD515C8F8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43150"/>
            <a:ext cx="2381250" cy="1524000"/>
          </a:xfrm>
          <a:prstGeom xmlns:a="http://schemas.openxmlformats.org/drawingml/2006/main" prst="roundRect">
            <a:avLst>
              <a:gd name="adj" fmla="val 1250"/>
            </a:avLst>
          </a:prstGeom>
          <a:solidFill xmlns:a="http://schemas.openxmlformats.org/drawingml/2006/main">
            <a:srgbClr val="EAF8F2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39E2AD-F2AE-4AFB-BD76-359203C0C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7051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B886"/>
          </a:solidFill>
          <a:ln xmlns:a="http://schemas.openxmlformats.org/drawingml/2006/main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1972D1-94FE-4174-B0D8-0B7EEF711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28900"/>
            <a:ext cx="1657350" cy="3429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差异集中到显示规则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1ABBB7-0C5E-4FCA-9EE2-906E9E187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2575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B886"/>
          </a:solidFill>
          <a:ln xmlns:a="http://schemas.openxmlformats.org/drawingml/2006/main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99D8C1-73C7-46CF-A61B-6325BD0C1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181350"/>
            <a:ext cx="1657350" cy="4572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主流程只负责采集、选择、生成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5EFB36-048F-471F-B2F8-7C76B4D80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81500"/>
            <a:ext cx="4953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>
            <a:noFill/>
          </a:ln>
        </p:spPr>
        <p:txBody>
          <a:bodyPr xmlns:a="http://schemas.openxmlformats.org/drawingml/2006/main" lIns="171450" tIns="114300" rIns="171450" bIns="76200" anchor="ctr">
            <a:normAutofit fontScale="90987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3EA8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0B3EA8"/>
                </a:solidFill>
                <a:latin typeface="PingFang SC"/>
                <a:ea typeface="PingFang SC"/>
                <a:cs typeface="PingFang SC"/>
              </a:rPr>
              <a:t>底层槽位信息 → 统一槽位编号 → 显示规则 → 客户可见槽位名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1E6F1F-3497-4D78-8F18-78A9E463E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19700"/>
            <a:ext cx="5048250" cy="552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新增版型优先补显示规则，不反复改核心流程，提升复用性、减少维护时间；同时降低误显示风险。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c13fc211294917"/>
          <a:stretch xmlns:a="http://schemas.openxmlformats.org/drawingml/2006/main"/>
        </p:blipFill>
        <p:spPr>
          <a:xfrm xmlns:a="http://schemas.openxmlformats.org/drawingml/2006/main">
            <a:off x="7352802" y="1885950"/>
            <a:ext cx="2744195" cy="3790950"/>
          </a:xfrm>
          <a:prstGeom xmlns:a="http://schemas.openxmlformats.org/drawingml/2006/main" prst="rect">
            <a:avLst/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E8C9F0-7A29-426C-B85B-F70DF8311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753100"/>
            <a:ext cx="4762500" cy="190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Type9 重构设计截图</a:t>
            </a:r>
          </a:p>
        </p:txBody>
      </p:sp>
    </p:spTree>
    <p:extLst>
      <p:ext uri="{BB962C8B-B14F-4D97-AF65-F5344CB8AC3E}">
        <p14:creationId xmlns:p14="http://schemas.microsoft.com/office/powerpoint/2010/main" val="206022097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8503239-B5EE-47D0-A1C5-35C0C9F00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6BBD6D-5839-4A5F-95AF-CB6FECC01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F6214D-34AE-4FBB-BA8C-56BE03695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7145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02 / SPEC-DRIVEN BUILD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EFA608-2012-4A9C-9463-760D2167A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572500" cy="7048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Type9 重构通过“规格先行、AI 生成代码、人工验收”完成落地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CD0AC2-9244-40DF-B4CE-A700D1B8D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F810D3-A36D-4C39-AE3A-EE1AE6820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14350"/>
            <a:ext cx="4572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5B6472"/>
                </a:solidFill>
                <a:latin typeface="Menlo"/>
                <a:ea typeface="Menlo"/>
                <a:cs typeface="Menlo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2E423B-28DE-41DF-ACF8-FBC5B2434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3525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0924B6-C574-4E74-A448-4278F0B31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9800"/>
            <a:ext cx="112395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客户需求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架构边界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B857D8-2FB2-4A2C-BDF0-76A349E43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286000"/>
            <a:ext cx="24765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04A186-D71F-4207-9606-A1B1FF7EE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95500"/>
            <a:ext cx="13525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EA252D-22D3-47E8-BF1B-87086344B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209800"/>
            <a:ext cx="112395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结构化规则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FC71EC-A97C-42B0-8FCE-011DE82BC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286000"/>
            <a:ext cx="24765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D62068-A51A-4308-8345-FF32F8AB5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095500"/>
            <a:ext cx="13525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DBC720-87CB-4BA1-8C6B-8D70CFD88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209800"/>
            <a:ext cx="112395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设计文档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77C9DF-9870-415F-B253-B8D6A548D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13525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8F112D-95B7-496C-AB53-A1080150C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33750"/>
            <a:ext cx="112395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AI 生成代码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2BD7F4-8748-44FB-9E47-C1422A0CF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409950"/>
            <a:ext cx="24765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45E335-C32C-4FF2-9D3A-6D007C859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219450"/>
            <a:ext cx="13525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6C98EF-2335-4251-A3E3-53CFDDACA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333750"/>
            <a:ext cx="112395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编译验证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A02F5D-B2F6-4ABE-AAD8-C9213688A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409950"/>
            <a:ext cx="24765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74DED4-0906-40FB-8D75-96DA296DD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219450"/>
            <a:ext cx="13525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8D606F-010E-4E48-B67C-FD0D392FA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333750"/>
            <a:ext cx="112395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人工验收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12021B-B239-43E8-87FF-BBD4E5B99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666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1AF02B-B1D9-4649-8251-63B40C51A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38675"/>
            <a:ext cx="24765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规则点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0576DB-6A6E-40E6-B759-1C887315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244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6321864-44BD-4F56-84A5-EF73A1245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048250"/>
            <a:ext cx="222885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规则冲突提前报错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672A0D-5365-4254-9C24-A3DF17F05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245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9348FD-1BB5-426F-9792-4641AA45B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48300"/>
            <a:ext cx="222885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异常路径可追踪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5040701-BEC9-4F4E-8084-5E5645202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1244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E5628D7-2CC2-400C-9ABE-FDD84F511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048250"/>
            <a:ext cx="222885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典型版型回归验证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941BCDD-46EA-4B55-8A34-D4061503F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5245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4DBBA28-918A-49AE-9A4E-8A5380F19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448300"/>
            <a:ext cx="222885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人工确认后合入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2883fd11764322"/>
          <a:stretch xmlns:a="http://schemas.openxmlformats.org/drawingml/2006/main"/>
        </p:blipFill>
        <p:spPr>
          <a:xfrm xmlns:a="http://schemas.openxmlformats.org/drawingml/2006/main">
            <a:off x="7409487" y="1885950"/>
            <a:ext cx="2726076" cy="3790950"/>
          </a:xfrm>
          <a:prstGeom xmlns:a="http://schemas.openxmlformats.org/drawingml/2006/main" prst="rect">
            <a:avLst/>
          </a:prstGeom>
        </p:spPr>
      </p:pic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638D53F-469F-4F00-8088-B0387B14B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753100"/>
            <a:ext cx="4667250" cy="190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SpecCode 输出截图</a:t>
            </a:r>
          </a:p>
        </p:txBody>
      </p:sp>
    </p:spTree>
    <p:extLst>
      <p:ext uri="{BB962C8B-B14F-4D97-AF65-F5344CB8AC3E}">
        <p14:creationId xmlns:p14="http://schemas.microsoft.com/office/powerpoint/2010/main" val="95036585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E7D97E1-7534-416A-BD4F-C01467B2A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567711-0874-4D75-A08B-A1BD9176D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3F4839-B186-45E6-A6C7-32A8B7301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7145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03 / VALIDATION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13E84C-2F42-4FA0-9010-6FF606272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572500" cy="7048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6354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SMBIOS 验证从“人工多环境切换”沉淀为基于 opencode skills 的可追踪自动化流程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C10AD6-0DFE-4E29-97BE-496B46AEE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EFBF0A-F708-46FF-BEA5-7E26493E9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14350"/>
            <a:ext cx="4572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5B6472"/>
                </a:solidFill>
                <a:latin typeface="Menlo"/>
                <a:ea typeface="Menlo"/>
                <a:cs typeface="Menlo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2DC00D-2978-481C-974B-AF3C0CCEA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666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472"/>
          </a:solidFill>
          <a:ln xmlns:a="http://schemas.openxmlformats.org/drawingml/2006/main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A44F65-531A-4E68-AA0C-A01B726EA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52625"/>
            <a:ext cx="24765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旧方式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5A63E2-34F9-4376-8DA6-87EC822CD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2362200" cy="1295400"/>
          </a:xfrm>
          <a:prstGeom xmlns:a="http://schemas.openxmlformats.org/drawingml/2006/main" prst="roundRect">
            <a:avLst>
              <a:gd name="adj" fmla="val 14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24C03F-9DF5-433D-8A4C-7AD003181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52700"/>
            <a:ext cx="17145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人工刷写 + 手动比对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9C3015-F39D-4E68-940A-9A0403885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14650"/>
            <a:ext cx="165735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127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手动切换环境、执行 dmidecode、整理日志，每一步都需要人工确认。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507336-CEE6-427C-B885-C22797AFB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350"/>
            <a:ext cx="666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5C543F-3627-40C7-9E3A-FC4D2CD75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52875"/>
            <a:ext cx="24765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新方式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18B991-C347-4907-9765-B5523C6AD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4350"/>
            <a:ext cx="2362200" cy="1390650"/>
          </a:xfrm>
          <a:prstGeom xmlns:a="http://schemas.openxmlformats.org/drawingml/2006/main" prst="roundRect">
            <a:avLst>
              <a:gd name="adj" fmla="val 137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49799D-0FC8-4D97-8D1E-7318816A0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52950"/>
            <a:ext cx="17145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opencode + skills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5D7649-5C49-42D6-A93E-015E40375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14900"/>
            <a:ext cx="1657350" cy="514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8982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将上传、校验、刷写、采集、报告生成串成可重复流程，并可与 AI 辅助开发联动。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56745E-CD9F-43A0-9BFD-FC51ED6A9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066925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CC1EB4-D0BD-434F-9662-286B0192F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095500"/>
            <a:ext cx="209550" cy="152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117D19-230C-4D69-B3E5-05C183B7F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038350"/>
            <a:ext cx="200025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BIOS 上传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004CC4-1FA9-4811-8DF2-D67FBE6F4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314575"/>
            <a:ext cx="9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2E977B-9443-42F6-8298-24E2FDFF8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657475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BE5CDC-6575-46D4-B5C3-51F3F19AE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686050"/>
            <a:ext cx="209550" cy="152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8E85F4-1512-4B9E-830A-D66A8B9A6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628900"/>
            <a:ext cx="200025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SHA256 校验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5EA37D-C2F3-4DF7-BB65-828D4C166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905125"/>
            <a:ext cx="9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854CA4-78F1-4E1B-A9E5-CA6A90393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248025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53F356-893D-42CD-9940-1E2E84052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276600"/>
            <a:ext cx="209550" cy="152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DB63AC-5C74-47B4-B26D-F8660FC39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219450"/>
            <a:ext cx="200025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远程刷写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345BEB9-6E7A-4666-9E56-39430A3F3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495675"/>
            <a:ext cx="9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8D66A03-DF1C-4AD7-88DC-7C533E846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838575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F00"/>
          </a:solidFill>
          <a:ln xmlns:a="http://schemas.openxmlformats.org/drawingml/2006/main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708DB06-E058-4FC6-B8D9-6789D6C5E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867150"/>
            <a:ext cx="209550" cy="152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72BD654-01C6-482A-9045-8BC89EAD7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810000"/>
            <a:ext cx="200025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人工确认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7822185-791B-4B61-9BFF-134287E01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086225"/>
            <a:ext cx="9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BB5F619-F3A6-4250-93B9-9E603D135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29125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DA64AB4-AEE3-46EA-BF30-CBA72D6BF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57700"/>
            <a:ext cx="209550" cy="152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5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4ED1B70-0A6A-4833-A807-3D3BC56EB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400550"/>
            <a:ext cx="200025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系统侧采集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A052992-9A45-4658-9FA3-8D4DE7334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676775"/>
            <a:ext cx="9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4983313-3F8A-455C-B855-815AA4D9D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019675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88EADE8-5F9F-4278-916D-F2CCFEE61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048250"/>
            <a:ext cx="209550" cy="152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6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CF83D42-32EF-44D7-A92D-9400E525D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991100"/>
            <a:ext cx="200025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报告生成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d33a5448754678"/>
          <a:stretch xmlns:a="http://schemas.openxmlformats.org/drawingml/2006/main"/>
        </p:blipFill>
        <p:spPr>
          <a:xfrm xmlns:a="http://schemas.openxmlformats.org/drawingml/2006/main">
            <a:off x="6509939" y="1809750"/>
            <a:ext cx="2601121" cy="3790950"/>
          </a:xfrm>
          <a:prstGeom xmlns:a="http://schemas.openxmlformats.org/drawingml/2006/main" prst="rect">
            <a:avLst/>
          </a:prstGeom>
        </p:spPr>
      </p:pic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E874144-20EC-42E7-BB1B-ABF49E015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676900"/>
            <a:ext cx="2857500" cy="190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验证日志截图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e762781b3941d4"/>
          <a:stretch xmlns:a="http://schemas.openxmlformats.org/drawingml/2006/main"/>
        </p:blipFill>
        <p:spPr>
          <a:xfrm xmlns:a="http://schemas.openxmlformats.org/drawingml/2006/main">
            <a:off x="9429750" y="2703869"/>
            <a:ext cx="1809750" cy="2002712"/>
          </a:xfrm>
          <a:prstGeom xmlns:a="http://schemas.openxmlformats.org/drawingml/2006/main" prst="rect">
            <a:avLst/>
          </a:prstGeom>
        </p:spPr>
      </p:pic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926D9DF-3A91-4584-84F1-EE123958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5676900"/>
            <a:ext cx="1809750" cy="190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dmidecode 输出截图</a:t>
            </a:r>
          </a:p>
        </p:txBody>
      </p:sp>
    </p:spTree>
    <p:extLst>
      <p:ext uri="{BB962C8B-B14F-4D97-AF65-F5344CB8AC3E}">
        <p14:creationId xmlns:p14="http://schemas.microsoft.com/office/powerpoint/2010/main" val="8696974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ADDE071-397A-4E33-8AFE-BF00EF0FC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7F3D6D-6059-463F-A1BE-9CC3A638C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197FFF-5006-49BE-869B-734010AF0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7145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03 / AI REFACTOR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D85028-FE88-49BB-B85A-9B8A53E46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572500" cy="7048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Type8 / Type11 / Type12 已验证 AI 适合规范化移植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3375EB-13B8-4E72-B3B2-71F4B4F6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428DD3-42FB-4860-B2E4-AA59083F5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14350"/>
            <a:ext cx="4572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5B6472"/>
                </a:solidFill>
                <a:latin typeface="Menlo"/>
                <a:ea typeface="Menlo"/>
                <a:cs typeface="Menlo"/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BB217C-7ABB-45F6-938A-966360EC0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87630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D48668-226D-4112-885F-3DE9B789A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90750"/>
            <a:ext cx="64770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客户规则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脚本提取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3C1504-84FA-4998-A8BF-C7D587377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266950"/>
            <a:ext cx="19050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1A1E0C-D59A-49DF-A31A-5F0C5FB85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076450"/>
            <a:ext cx="87630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68627E-E4AE-4028-A2E0-65F0436DD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190750"/>
            <a:ext cx="64770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边界约束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775433-66AC-485B-9474-CD0603350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266950"/>
            <a:ext cx="19050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B0EEE7-0440-4306-98C1-D9299C451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076450"/>
            <a:ext cx="87630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BD9AAC-728C-486E-B40F-57EAE032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190750"/>
            <a:ext cx="64770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AI 生成 V5 代码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ADACA8-E4F6-4C9F-BCC8-115C3A6AE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266950"/>
            <a:ext cx="19050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6EE778-C992-4EEA-9714-06721A0A4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076450"/>
            <a:ext cx="87630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8C388D-D562-414D-833B-60D595A1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190750"/>
            <a:ext cx="64770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人工复核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BEC84C-9505-4B96-86CD-F668390A6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266950"/>
            <a:ext cx="19050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EEA940-C0C9-4E74-8C58-190CD498E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076450"/>
            <a:ext cx="87630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819045-11FC-4336-9F7B-49A2BF756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190750"/>
            <a:ext cx="64770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编译测试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8AE385-64B6-445A-B28B-66572C683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29000"/>
            <a:ext cx="2714625" cy="1428750"/>
          </a:xfrm>
          <a:prstGeom xmlns:a="http://schemas.openxmlformats.org/drawingml/2006/main" prst="roundRect">
            <a:avLst>
              <a:gd name="adj" fmla="val 1333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7C53DC-EEDD-438F-A2DC-57A2AF3F7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76650"/>
            <a:ext cx="85725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88018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2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5.0 天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A75911-3D05-4715-93CB-F531C2705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676650"/>
            <a:ext cx="30480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A3F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A3F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8C96A9-BF36-4BAC-8E60-1D564E9E5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676650"/>
            <a:ext cx="97155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9755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2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2.0 天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795917-E6BA-4142-AA55-A8D80CBB1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67200"/>
            <a:ext cx="1809750" cy="400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DDE7F5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DDE7F5"/>
                </a:solidFill>
                <a:latin typeface="PingFang SC"/>
                <a:ea typeface="PingFang SC"/>
                <a:cs typeface="PingFang SC"/>
              </a:rPr>
              <a:t>以 Type8 / Type11 / Type12 移植试点为例。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6C8699-FBC7-457A-9ABF-BB4DA22D3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81600"/>
            <a:ext cx="819150" cy="2476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6368B0-BF3A-4AF0-ADD3-0B2528CD0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19700"/>
            <a:ext cx="62865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Type8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0728A0B-54D9-469E-8406-AC5AEEE4D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181600"/>
            <a:ext cx="819150" cy="2476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7764DA6-CAF5-4388-B938-D66171E05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219700"/>
            <a:ext cx="62865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Type11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6EEDDA-A776-4ADF-93DD-2699CD675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81600"/>
            <a:ext cx="819150" cy="2476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419AED0-9509-486E-90EF-B63CD5537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219700"/>
            <a:ext cx="62865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Type12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c76aa5679a4f4b"/>
          <a:stretch xmlns:a="http://schemas.openxmlformats.org/drawingml/2006/main"/>
        </p:blipFill>
        <p:spPr>
          <a:xfrm xmlns:a="http://schemas.openxmlformats.org/drawingml/2006/main">
            <a:off x="6096000" y="1824245"/>
            <a:ext cx="2524125" cy="3761959"/>
          </a:xfrm>
          <a:prstGeom xmlns:a="http://schemas.openxmlformats.org/drawingml/2006/main" prst="rect">
            <a:avLst/>
          </a:prstGeom>
        </p:spPr>
      </p:pic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3D9F288-3161-4A33-A024-80994D136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24125" cy="190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任务拆解截图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dfff85c5384365"/>
          <a:stretch xmlns:a="http://schemas.openxmlformats.org/drawingml/2006/main"/>
        </p:blipFill>
        <p:spPr>
          <a:xfrm xmlns:a="http://schemas.openxmlformats.org/drawingml/2006/main">
            <a:off x="8839200" y="2422966"/>
            <a:ext cx="2428875" cy="2564519"/>
          </a:xfrm>
          <a:prstGeom xmlns:a="http://schemas.openxmlformats.org/drawingml/2006/main" prst="rect">
            <a:avLst/>
          </a:prstGeom>
        </p:spPr>
      </p:pic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AE63888-DEC3-42FD-87BD-DBB5FAF50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428875" cy="190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检查项截图</a:t>
            </a:r>
          </a:p>
        </p:txBody>
      </p:sp>
    </p:spTree>
    <p:extLst>
      <p:ext uri="{BB962C8B-B14F-4D97-AF65-F5344CB8AC3E}">
        <p14:creationId xmlns:p14="http://schemas.microsoft.com/office/powerpoint/2010/main" val="92909646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B10E0EB-0B23-4C56-B142-96E3B60BA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77D18F-7060-4B2F-A0F3-0B51138D2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0E4F90-73B8-4FEB-B6B0-7AE2E87B2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7145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04 / AI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1318DC-DCD5-4EC7-94D5-FCA27C5D5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572500" cy="7048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6354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AI Review 新增上下文完整性检查，降低模型只看局部 diff 的漏判风险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FAF69F-9494-4BB2-B9A0-5FF9FA4CD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6D1A67-8020-4654-BA55-49B8B1FC9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14350"/>
            <a:ext cx="4572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5B6472"/>
                </a:solidFill>
                <a:latin typeface="Menlo"/>
                <a:ea typeface="Menlo"/>
                <a:cs typeface="Menlo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F3B8F7-7EDE-4DCC-BC0C-45BB07912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666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472"/>
          </a:solidFill>
          <a:ln xmlns:a="http://schemas.openxmlformats.org/drawingml/2006/main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0985E6-A936-4C1F-A71C-2A6FAD8F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52625"/>
            <a:ext cx="24765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旧方式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CE69BA-64B7-4398-BD1C-F9025F3A2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2247900" cy="1200150"/>
          </a:xfrm>
          <a:prstGeom xmlns:a="http://schemas.openxmlformats.org/drawingml/2006/main" prst="roundRect">
            <a:avLst>
              <a:gd name="adj" fmla="val 15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968CD8-F330-4E1C-84FF-5471751B4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52700"/>
            <a:ext cx="161925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diff + 固定规则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57059C-0512-436A-9DA7-80E1D2021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52750"/>
            <a:ext cx="1581150" cy="400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1196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评论较少时，不容易判断是没有风险，还是上下文不够。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40EC7F-547C-4B99-B4CF-35F127287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666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105274-45D7-48BC-86CA-D73D5965D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76675"/>
            <a:ext cx="24765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当前方式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A4DAE6-6476-45FC-938B-3FB2BC7BB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48150"/>
            <a:ext cx="7048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2C6899-2E3C-4991-9941-653AF5082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62450"/>
            <a:ext cx="47625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代码变更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21015A-DA79-4278-B572-34FCC9395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438650"/>
            <a:ext cx="1524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C8BB0A-EAE6-477C-8742-82B0B565D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248150"/>
            <a:ext cx="7048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672E4E-9962-4251-8D94-AAEB3C49A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362450"/>
            <a:ext cx="47625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上下文收集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178C0C-102F-42B4-B2A1-E9957D0A2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438650"/>
            <a:ext cx="1524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901004-10F6-4156-A74C-A45084B70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248150"/>
            <a:ext cx="7048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CEB9EE-B1EC-4026-B97E-D1EDC70A4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362450"/>
            <a:ext cx="47625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完整性检查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153E05-38C0-4040-9C7E-9DF302D3A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7048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C51051-3D77-48F2-B4D3-391B72E61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67300"/>
            <a:ext cx="47625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受控分析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3AAD3B-A777-4C7D-934B-00EE792A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143500"/>
            <a:ext cx="1524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C3E892-3C79-4FDB-AD00-859455B65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953000"/>
            <a:ext cx="7048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FC756B-2D10-4E0D-8B33-08B666294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067300"/>
            <a:ext cx="47625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证据补充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2DD544C-6544-49A1-A20E-154FC3D69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5143500"/>
            <a:ext cx="1524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E34000-506B-40CD-B7BA-9F8F2ED49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953000"/>
            <a:ext cx="7048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CA005E-C99E-4CA3-9FB7-3BF29F812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5067300"/>
            <a:ext cx="47625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92191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AI Review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C7E4E62-CE57-4D57-BE78-A965DE4E8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038350"/>
            <a:ext cx="3143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2B29A5F-F6D5-4C2B-A7B6-6AE1C7A99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209800"/>
            <a:ext cx="123825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上下文材料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A510C63-DE29-4461-96A5-66712B533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95550"/>
            <a:ext cx="24765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补充变更文件、函数窗口、EDK 元数据和上报链路。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31DF38E-98D1-43E8-8DC7-BB458C60A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143250"/>
            <a:ext cx="3143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8F2"/>
          </a:solidFill>
          <a:ln xmlns:a="http://schemas.openxmlformats.org/drawingml/2006/main">
            <a:noFill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44730E8-70EF-4DE2-A4B5-26A3CCA0C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314700"/>
            <a:ext cx="123825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完整性检查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D33162A-135B-4473-AC82-E166D3799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24765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88482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记录模块、配置、调用链和上报路径是否足够。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805A13D-C041-4785-96ED-0BEC254BA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48150"/>
            <a:ext cx="3143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E"/>
          </a:solidFill>
          <a:ln xmlns:a="http://schemas.openxmlformats.org/drawingml/2006/main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921CE74-AC7E-4D41-801A-589FE1312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419600"/>
            <a:ext cx="123825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过程留痕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7F5BFDA-8BE8-452C-BF23-FCEDA2919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705350"/>
            <a:ext cx="24765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输出上下文覆盖记录，管理员可回看缺什么、补了什么。</a:t>
            </a:r>
          </a:p>
        </p:txBody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cfe77cfce9458e"/>
          <a:stretch xmlns:a="http://schemas.openxmlformats.org/drawingml/2006/main"/>
        </p:blipFill>
        <p:spPr>
          <a:xfrm xmlns:a="http://schemas.openxmlformats.org/drawingml/2006/main">
            <a:off x="7940505" y="1809750"/>
            <a:ext cx="1568790" cy="2457450"/>
          </a:xfrm>
          <a:prstGeom xmlns:a="http://schemas.openxmlformats.org/drawingml/2006/main" prst="rect">
            <a:avLst/>
          </a:prstGeom>
        </p:spPr>
      </p:pic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18C7145-0563-4E0B-A9BB-D8FF7EB85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43400"/>
            <a:ext cx="3429000" cy="190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AI Review 上下文材料与 planner 记录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57C7C8E-F795-4116-9A66-DA6CB46A7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705350"/>
            <a:ext cx="342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>
            <a:noFill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6A43D46-CD44-4D4D-A284-DA1A62ED9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810125"/>
            <a:ext cx="38862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工作项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5B8C2A8-8CA4-4B61-B241-D65159E47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1920" y="4810125"/>
            <a:ext cx="165735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交付结果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D5CFE33-A378-4301-978E-CF183439D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7870" y="4810125"/>
            <a:ext cx="69723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状态口径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35EDAB3-6024-47F0-B60D-7B907B6E8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5067300"/>
            <a:ext cx="342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05A6DAC-96A4-49B8-8D55-1109489B0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200650"/>
            <a:ext cx="388620" cy="38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2380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真实提交回放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53B85FE-3D95-41E7-A20D-E4CC5AF60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1920" y="5200650"/>
            <a:ext cx="1657350" cy="38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24679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013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6 个 case 成功运行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B910323-7EB7-44E9-AB20-AFB5E3FE5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5020" y="5238750"/>
            <a:ext cx="582930" cy="2476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8F2"/>
          </a:solidFill>
          <a:ln xmlns:a="http://schemas.openxmlformats.org/drawingml/2006/main">
            <a:noFill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EB7DE28-238B-48EC-809A-D0506F63B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0270" y="5276850"/>
            <a:ext cx="39243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2B886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12B886"/>
                </a:solidFill>
                <a:latin typeface="PingFang SC"/>
                <a:ea typeface="PingFang SC"/>
                <a:cs typeface="PingFang SC"/>
              </a:rPr>
              <a:t>已验证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BC656A5-66DF-4013-9DA3-22A096D96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5429250"/>
            <a:ext cx="342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A93E403-7F18-4056-AB72-6E35853F9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562600"/>
            <a:ext cx="388620" cy="38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2380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历史问题反向样本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7521E64-026A-45D8-8CAE-ACD537BDB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1920" y="5562600"/>
            <a:ext cx="1657350" cy="38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24679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013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4 / 4 在中间过程触达预期风险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BE19BD6-7AE2-4F1A-8B33-959401534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5020" y="5600700"/>
            <a:ext cx="582930" cy="2476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>
            <a:noFill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A54DEB0-1CFC-478C-AA6A-A8F270D44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0270" y="5638800"/>
            <a:ext cx="39243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45CFF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145CFF"/>
                </a:solidFill>
                <a:latin typeface="PingFang SC"/>
                <a:ea typeface="PingFang SC"/>
                <a:cs typeface="PingFang SC"/>
              </a:rPr>
              <a:t>触达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A3B2632-DEFE-4DE0-9ABD-690786283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5791200"/>
            <a:ext cx="342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6E66158-54E5-4BF6-9D5C-D762F6BD1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924550"/>
            <a:ext cx="388620" cy="38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2380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negative 负样本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9C65D39-CC3B-42ED-A151-9C08E1F34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1920" y="5924550"/>
            <a:ext cx="1657350" cy="38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24679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013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2 个正常改动未进入正式问题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F680136-6BA6-4F02-9804-70D0C9B2B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5020" y="5962650"/>
            <a:ext cx="582930" cy="2476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8F2"/>
          </a:solidFill>
          <a:ln xmlns:a="http://schemas.openxmlformats.org/drawingml/2006/main">
            <a:noFill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0722A44-7530-446E-91F1-11D38B9F5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0270" y="6000750"/>
            <a:ext cx="39243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rmAutofit fontScale="68687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2B886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12B886"/>
                </a:solidFill>
                <a:latin typeface="PingFang SC"/>
                <a:ea typeface="PingFang SC"/>
                <a:cs typeface="PingFang SC"/>
              </a:rPr>
              <a:t>无正式误报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8D6E892-25E3-400F-9247-BE30026F6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5905500" cy="3048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重点不是页面换样式，而是审查前先判断材料是否足够；评论为空也能区分“无明确问题”还是“上下文 / 证据不足”。</a:t>
            </a:r>
          </a:p>
        </p:txBody>
      </p:sp>
    </p:spTree>
    <p:extLst>
      <p:ext uri="{BB962C8B-B14F-4D97-AF65-F5344CB8AC3E}">
        <p14:creationId xmlns:p14="http://schemas.microsoft.com/office/powerpoint/2010/main" val="39999930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65F3626-9FF4-420C-8FDF-D92B7434C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C174BC-C2B6-4BF4-940F-2007F545B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23244E-679C-41BC-921C-9E72DE0AA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7145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20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04 / AI REVIEW VALIDATION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5157BD-A17C-4CBA-B1C6-43B05AD26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572500" cy="7048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6354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管理员界面将模型看到的风险沉淀为可见、可追踪、可复盘的处置记录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BEA9D7-EE39-418D-95C9-87C602BA0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F9FF31-0EBF-49B2-9338-0D737AFC4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14350"/>
            <a:ext cx="4572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5B6472"/>
                </a:solidFill>
                <a:latin typeface="Menlo"/>
                <a:ea typeface="Menlo"/>
                <a:cs typeface="Menlo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B8F87B-F043-44E3-9032-498E69DE5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2057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F2"/>
          </a:solidFill>
          <a:ln xmlns:a="http://schemas.openxmlformats.org/drawingml/2006/main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FA8982-0A99-4B53-B7B0-FE52F011F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52650"/>
            <a:ext cx="11430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问题断点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DC878B-FE21-47AF-9E79-A0B68E937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14600"/>
            <a:ext cx="1619250" cy="3238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6785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013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早期能在分析过程看到风险，但正式评论可能只有一部分。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AE5FC6-F438-42E4-AFC3-CECDA60BA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962150"/>
            <a:ext cx="2057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17E544-363F-4C4D-916B-604D17EEE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152650"/>
            <a:ext cx="11430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修复动作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45D5AC-C5BA-47F2-B6AF-11D04410B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14600"/>
            <a:ext cx="1619250" cy="3238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69947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013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新增管理员界面的台账检查，要求每条风险都有正式问题、待确认或排除记录。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B35F35-B7A6-4993-8C7B-04D671B02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962150"/>
            <a:ext cx="2057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8F2"/>
          </a:solidFill>
          <a:ln xmlns:a="http://schemas.openxmlformats.org/drawingml/2006/main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40020B-FBDA-43E9-8E52-C95716528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152650"/>
            <a:ext cx="11430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结果收益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349040-CE4B-4B99-A9F0-3453CD9F3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514600"/>
            <a:ext cx="1619250" cy="3238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899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013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风险从中间过程进入可见结果，后台能解释为什么保留或排除。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83CF39-1E94-44E1-9EF7-371963915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6534150" cy="1962150"/>
          </a:xfrm>
          <a:prstGeom xmlns:a="http://schemas.openxmlformats.org/drawingml/2006/main" prst="roundRect">
            <a:avLst>
              <a:gd name="adj" fmla="val 9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81046C-9A20-4C8A-940F-14311C42B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86150"/>
            <a:ext cx="17145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代表样本回放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CB8A37-7247-4AC4-8310-6FB8B83E5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67150"/>
            <a:ext cx="6076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FD7DBD-7CF9-46FA-B0BA-7D8A89B1C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05250"/>
            <a:ext cx="552450" cy="133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863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RF001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8716AE-ABB7-40C8-A4C2-C507D988E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905250"/>
            <a:ext cx="2381250" cy="133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3284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938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固定 buffer 风险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2228E1-7724-4B10-A867-5263701E8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905250"/>
            <a:ext cx="2381250" cy="133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3284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正式问题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52B439-FCD6-4CAB-96F0-EC8AF00E4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33850"/>
            <a:ext cx="6076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89469E-6763-46E6-BE6E-FF97F7036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71950"/>
            <a:ext cx="552450" cy="133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863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RF003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F30543-E619-444F-8E18-530846B40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171950"/>
            <a:ext cx="2381250" cy="133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3284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938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链路异常处理风险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764ADC-CA5D-4639-985F-94931FDCD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171950"/>
            <a:ext cx="2381250" cy="133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3284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正式问题 + 后台追踪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4A16F6-31E2-40AD-B481-984B67122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00550"/>
            <a:ext cx="6076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219E980-734F-4FF0-98F6-75AF6ED8D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38650"/>
            <a:ext cx="552450" cy="133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863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RF004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CB77CC-BC28-4940-B0B8-6B55ACAAD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438650"/>
            <a:ext cx="2381250" cy="133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3284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938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长度和异常上报风险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A4537E7-5673-48E0-9899-71E55AC8A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438650"/>
            <a:ext cx="2381250" cy="133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3284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2 个正式问题 + 待确认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3329724-9BBC-4E17-B80B-A46551A5B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67250"/>
            <a:ext cx="6076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40CE6EF-4777-4294-9D1B-6A8F428D1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05350"/>
            <a:ext cx="552450" cy="133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863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NEG001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DF62A0E-98EB-4D10-8918-D04AD20EC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705350"/>
            <a:ext cx="2381250" cy="133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3284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938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MFGID 正常扩展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21E798F-4951-487B-8DA7-436D14F37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705350"/>
            <a:ext cx="2381250" cy="133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3284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2B886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12B886"/>
                </a:solidFill>
                <a:latin typeface="PingFang SC"/>
                <a:ea typeface="PingFang SC"/>
                <a:cs typeface="PingFang SC"/>
              </a:rPr>
              <a:t>无用户可见正式评论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77539FA-A280-4E38-9C4E-A9D3B033B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33950"/>
            <a:ext cx="6076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4D84730-C59D-46AC-9096-1645A9EED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72050"/>
            <a:ext cx="552450" cy="133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863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NEG002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EA10D85-8AE5-405E-B15F-45B272C05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972050"/>
            <a:ext cx="2381250" cy="133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3284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938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字符串清理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8914C28-AFB5-4122-AE9C-F9312DB8C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972050"/>
            <a:ext cx="2381250" cy="133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3284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2B886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12B886"/>
                </a:solidFill>
                <a:latin typeface="PingFang SC"/>
                <a:ea typeface="PingFang SC"/>
                <a:cs typeface="PingFang SC"/>
              </a:rPr>
              <a:t>无用户可见正式评论</a:t>
            </a:r>
          </a:p>
        </p:txBody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7978dd31e14df3"/>
          <a:stretch xmlns:a="http://schemas.openxmlformats.org/drawingml/2006/main"/>
        </p:blipFill>
        <p:spPr>
          <a:xfrm xmlns:a="http://schemas.openxmlformats.org/drawingml/2006/main">
            <a:off x="8107805" y="1866900"/>
            <a:ext cx="2148590" cy="24384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AF266FB-FA0B-4AB0-94FC-2AF33F4C3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381500"/>
            <a:ext cx="2857500" cy="190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AI Review 待确认项与后台处置记录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C494700-8C70-415D-88B2-B6BF7BF1A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800600"/>
            <a:ext cx="1428750" cy="1333500"/>
          </a:xfrm>
          <a:prstGeom xmlns:a="http://schemas.openxmlformats.org/drawingml/2006/main" prst="roundRect">
            <a:avLst>
              <a:gd name="adj" fmla="val 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4BE7A89-9C93-4BE7-A56F-847119029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800600"/>
            <a:ext cx="571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9CFC485-BFD7-4C6C-BE58-435257576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010150"/>
            <a:ext cx="100965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3137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2550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3/3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F3AE585-AA52-4F87-92E0-4CE89A8AB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429250"/>
            <a:ext cx="100965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812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风险样本可见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7017200-61DC-4514-8216-5A97B64ED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715000"/>
            <a:ext cx="100965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RF 样本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979ACBC-CBB6-4176-8FEC-E6E2A8F8F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800600"/>
            <a:ext cx="1428750" cy="1333500"/>
          </a:xfrm>
          <a:prstGeom xmlns:a="http://schemas.openxmlformats.org/drawingml/2006/main" prst="roundRect">
            <a:avLst>
              <a:gd name="adj" fmla="val 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B2D6F8F-E503-4EA3-AF8F-B07F26DB3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800600"/>
            <a:ext cx="571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B886"/>
          </a:solidFill>
          <a:ln xmlns:a="http://schemas.openxmlformats.org/drawingml/2006/main">
            <a:noFill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A0E7B20-F1B3-4421-ADA8-9A997CDF5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5010150"/>
            <a:ext cx="100965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3137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2B886"/>
                </a:solidFill>
                <a:latin typeface="Menlo"/>
                <a:ea typeface="Menlo"/>
                <a:cs typeface="Menlo"/>
              </a:defRPr>
            </a:pPr>
            <a:r>
              <a:rPr sz="2550" b="1">
                <a:solidFill>
                  <a:srgbClr val="12B886"/>
                </a:solidFill>
                <a:latin typeface="Menlo"/>
                <a:ea typeface="Menlo"/>
                <a:cs typeface="Menlo"/>
              </a:rPr>
              <a:t>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BDF603C-78D6-4709-BECC-008D215AA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5429250"/>
            <a:ext cx="100965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812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新增正式误报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DFD4308-542A-47B3-AE9F-2AD95F27A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5715000"/>
            <a:ext cx="100965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NEG 当前样本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DE77EA0-71CF-485C-83FD-1B63CB7E6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293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>
            <a:noFill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B7D85CD-5690-4B55-B202-4B9527EE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343650"/>
            <a:ext cx="57150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边界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7D1CD33-E3BB-4B58-8403-54001C37A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6324600"/>
            <a:ext cx="7905750" cy="190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可以看出代表样本回放改善；后续继续添加实际案例进行迭代，不扩大为全场景准确率结论。</a:t>
            </a:r>
          </a:p>
        </p:txBody>
      </p:sp>
    </p:spTree>
    <p:extLst>
      <p:ext uri="{BB962C8B-B14F-4D97-AF65-F5344CB8AC3E}">
        <p14:creationId xmlns:p14="http://schemas.microsoft.com/office/powerpoint/2010/main" val="59937024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B28920-F141-4DFB-8F4F-27DAFC13C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A17595-1545-4A04-BD17-6D7F089F8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BF76E7-B889-4656-9F50-8786F68FF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7145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45CFF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145CFF"/>
                </a:solidFill>
                <a:latin typeface="Menlo"/>
                <a:ea typeface="Menlo"/>
                <a:cs typeface="Menlo"/>
              </a:rPr>
              <a:t>NEXT STEP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C59DD0-389A-4CD6-B6BE-DB8DDCAED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572500" cy="7048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6354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下一步聚焦 SMBIOS 可观测问题，沉淀开发生成和测试修复两条 Agent 流程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BA4476-246E-4AEB-9885-194F77517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BF2"/>
          </a:solidFill>
          <a:ln xmlns:a="http://schemas.openxmlformats.org/drawingml/2006/main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7B82D5-203C-4FDE-ACCB-9EEE04660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14350"/>
            <a:ext cx="4572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5B6472"/>
                </a:solidFill>
                <a:latin typeface="Menlo"/>
                <a:ea typeface="Menlo"/>
                <a:cs typeface="Menlo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68AEB1-5555-4238-9879-A8CBFF3D5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4762500" cy="2952750"/>
          </a:xfrm>
          <a:prstGeom xmlns:a="http://schemas.openxmlformats.org/drawingml/2006/main" prst="roundRect">
            <a:avLst>
              <a:gd name="adj" fmla="val 6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3B10F0-2A14-4A66-B892-34F93770F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4762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CFF"/>
          </a:solidFill>
          <a:ln xmlns:a="http://schemas.openxmlformats.org/drawingml/2006/main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2DD952-E8C8-4141-AAA6-44080E42D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90750"/>
            <a:ext cx="247650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开发阶段工作流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529FA7-D3F4-454D-B329-6B024548C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00350"/>
            <a:ext cx="3857625" cy="914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3EA8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0B3EA8"/>
                </a:solidFill>
                <a:latin typeface="PingFang SC"/>
                <a:ea typeface="PingFang SC"/>
                <a:cs typeface="PingFang SC"/>
              </a:rPr>
              <a:t>需求 / 客户规则 → 规格文档 → opencode skills → AI 辅助生成代码 → 自动化验证 → 人工验收 → 上库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AF7004-CB3E-43EC-BFA6-AB0C170C6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95750"/>
            <a:ext cx="367665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98958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适用：规则清晰、字段边界明确、输出可比对的 SMBIOS 模块。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9506C1-655F-4DF9-8EA9-C05B43229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885950"/>
            <a:ext cx="4762500" cy="2952750"/>
          </a:xfrm>
          <a:prstGeom xmlns:a="http://schemas.openxmlformats.org/drawingml/2006/main" prst="roundRect">
            <a:avLst>
              <a:gd name="adj" fmla="val 6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BF2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A28E26-7206-463B-8A1A-99B736B1E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885950"/>
            <a:ext cx="4762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B886"/>
          </a:solidFill>
          <a:ln xmlns:a="http://schemas.openxmlformats.org/drawingml/2006/main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9DC77E-8AE5-4BAB-AF08-C857D62A9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90750"/>
            <a:ext cx="247650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测试问题工作流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9486FF-B724-42E3-9190-DF72E1831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800350"/>
            <a:ext cx="3857625" cy="990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F5B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087F5B"/>
                </a:solidFill>
                <a:latin typeface="PingFang SC"/>
                <a:ea typeface="PingFang SC"/>
                <a:cs typeface="PingFang SC"/>
              </a:rPr>
              <a:t>自动验证发现差异 → Agent 读取日志和代码 → 定位上报路径 → 输出修复建议 → 工程师确认 → 复测回归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7A63FA-9A28-4977-9BB5-0672F8B33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95750"/>
            <a:ext cx="3771900" cy="4572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73140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273140"/>
                </a:solidFill>
                <a:latin typeface="PingFang SC"/>
                <a:ea typeface="PingFang SC"/>
                <a:cs typeface="PingFang SC"/>
              </a:rPr>
              <a:t>适用：字段缺失、显示异常、客户可见信息不一致、配置开关导致上报缺失。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2FDC7F-DAF5-4CDF-B94D-7BCD64900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00650"/>
            <a:ext cx="1009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509037-6AE3-40C5-81EE-F55A1D458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91150"/>
            <a:ext cx="5905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边界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C9241C-869C-4EA5-A86E-7C8149E26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381625"/>
            <a:ext cx="817245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不做泛化 BIOS Bug 自动修复；启动失败、硬件链路异常、时序不稳定、偶发平台问题不纳入本轮闭环。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B001FC-C0A7-4A04-9FE2-2BC73530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962650"/>
            <a:ext cx="895350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验收：选取 2-3 类 SMBIOS 显示 / 字段问题，保留验证报告、定位记录、修复建议、人工确认和复测结果。</a:t>
            </a:r>
          </a:p>
        </p:txBody>
      </p:sp>
    </p:spTree>
    <p:extLst>
      <p:ext uri="{BB962C8B-B14F-4D97-AF65-F5344CB8AC3E}">
        <p14:creationId xmlns:p14="http://schemas.microsoft.com/office/powerpoint/2010/main" val="14133413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2026-05-28T09:02:58.9960000Z</dcterms:created>
  <dcterms:modified xsi:type="dcterms:W3CDTF">2026-05-28T09:02:58.9960000Z</dcterms:modified>
</coreProperties>
</file>