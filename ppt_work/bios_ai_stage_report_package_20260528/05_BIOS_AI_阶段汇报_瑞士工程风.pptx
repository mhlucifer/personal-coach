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c2dcc6475d4101" /><Relationship Type="http://schemas.openxmlformats.org/officeDocument/2006/relationships/extended-properties" Target="/docProps/app.xml" Id="Reca3a8472a9341ff" /><Relationship Type="http://schemas.openxmlformats.org/officeDocument/2006/relationships/officeDocument" Target="/ppt/presentation.xml" Id="R25bbec344aa446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3bf6f6500445b2"/>
  </p:sldMasterIdLst>
  <p:notesMasterIdLst>
    <p:notesMasterId xmlns:r="http://schemas.openxmlformats.org/officeDocument/2006/relationships" r:id="R90c7dfb9965c427d"/>
  </p:notesMasterIdLst>
  <p:sldIdLst>
    <p:sldId xmlns:r="http://schemas.openxmlformats.org/officeDocument/2006/relationships" id="256" r:id="R8788533c7e64498c"/>
    <p:sldId xmlns:r="http://schemas.openxmlformats.org/officeDocument/2006/relationships" id="257" r:id="R30ae6a74e58b4f15"/>
    <p:sldId xmlns:r="http://schemas.openxmlformats.org/officeDocument/2006/relationships" id="258" r:id="R79c31758d2094d6c"/>
    <p:sldId xmlns:r="http://schemas.openxmlformats.org/officeDocument/2006/relationships" id="259" r:id="R111a861007744b49"/>
    <p:sldId xmlns:r="http://schemas.openxmlformats.org/officeDocument/2006/relationships" id="260" r:id="R48fc427c1f7246f3"/>
    <p:sldId xmlns:r="http://schemas.openxmlformats.org/officeDocument/2006/relationships" id="261" r:id="R54d870b05d7343e6"/>
    <p:sldId xmlns:r="http://schemas.openxmlformats.org/officeDocument/2006/relationships" id="262" r:id="Rbf3e02e394624531"/>
    <p:sldId xmlns:r="http://schemas.openxmlformats.org/officeDocument/2006/relationships" id="263" r:id="R3584376cd5664c15"/>
    <p:sldId xmlns:r="http://schemas.openxmlformats.org/officeDocument/2006/relationships" id="264" r:id="R0fbd47de7d944bcf"/>
    <p:sldId xmlns:r="http://schemas.openxmlformats.org/officeDocument/2006/relationships" id="265" r:id="R497c8039d4e84b53"/>
    <p:sldId xmlns:r="http://schemas.openxmlformats.org/officeDocument/2006/relationships" id="266" r:id="R67b9dd479bd8441f"/>
    <p:sldId xmlns:r="http://schemas.openxmlformats.org/officeDocument/2006/relationships" id="267" r:id="Re66955e4f5194c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bf6f6500445b2" /><Relationship Type="http://schemas.openxmlformats.org/officeDocument/2006/relationships/theme" Target="/ppt/theme/theme1.xml" Id="R42806b3250154a0f" /><Relationship Type="http://schemas.openxmlformats.org/officeDocument/2006/relationships/notesMaster" Target="/ppt/notesMasters/notesMaster1.xml" Id="R90c7dfb9965c427d" /><Relationship Type="http://schemas.openxmlformats.org/officeDocument/2006/relationships/presProps" Target="/ppt/presProps.xml" Id="Rf98d8484ed5c4aab" /><Relationship Type="http://schemas.openxmlformats.org/officeDocument/2006/relationships/viewProps" Target="/ppt/viewProps.xml" Id="R98df3d6da33f492d" /><Relationship Type="http://schemas.openxmlformats.org/officeDocument/2006/relationships/tableStyles" Target="/ppt/tableStyles.xml" Id="R143d81e724f24792" /><Relationship Type="http://schemas.openxmlformats.org/officeDocument/2006/relationships/slide" Target="/ppt/slides/slide1.xml" Id="R8788533c7e64498c" /><Relationship Type="http://schemas.openxmlformats.org/officeDocument/2006/relationships/slide" Target="/ppt/slides/slide2.xml" Id="R30ae6a74e58b4f15" /><Relationship Type="http://schemas.openxmlformats.org/officeDocument/2006/relationships/slide" Target="/ppt/slides/slide3.xml" Id="R79c31758d2094d6c" /><Relationship Type="http://schemas.openxmlformats.org/officeDocument/2006/relationships/slide" Target="/ppt/slides/slide4.xml" Id="R111a861007744b49" /><Relationship Type="http://schemas.openxmlformats.org/officeDocument/2006/relationships/slide" Target="/ppt/slides/slide5.xml" Id="R48fc427c1f7246f3" /><Relationship Type="http://schemas.openxmlformats.org/officeDocument/2006/relationships/slide" Target="/ppt/slides/slide6.xml" Id="R54d870b05d7343e6" /><Relationship Type="http://schemas.openxmlformats.org/officeDocument/2006/relationships/slide" Target="/ppt/slides/slide7.xml" Id="Rbf3e02e394624531" /><Relationship Type="http://schemas.openxmlformats.org/officeDocument/2006/relationships/slide" Target="/ppt/slides/slide8.xml" Id="R3584376cd5664c15" /><Relationship Type="http://schemas.openxmlformats.org/officeDocument/2006/relationships/slide" Target="/ppt/slides/slide9.xml" Id="R0fbd47de7d944bcf" /><Relationship Type="http://schemas.openxmlformats.org/officeDocument/2006/relationships/slide" Target="/ppt/slides/slide10.xml" Id="R497c8039d4e84b53" /><Relationship Type="http://schemas.openxmlformats.org/officeDocument/2006/relationships/slide" Target="/ppt/slides/slide11.xml" Id="R67b9dd479bd8441f" /><Relationship Type="http://schemas.openxmlformats.org/officeDocument/2006/relationships/slide" Target="/ppt/slides/slide12.xml" Id="Re66955e4f5194c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9dd1056aafd49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a8d38e6b344286" /><Relationship Type="http://schemas.openxmlformats.org/officeDocument/2006/relationships/notesMaster" Target="/ppt/notesMasters/notesMaster1.xml" Id="R530ff2234b1f4b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aab728b9534f37" /><Relationship Type="http://schemas.openxmlformats.org/officeDocument/2006/relationships/notesMaster" Target="/ppt/notesMasters/notesMaster1.xml" Id="R004114655e5d4f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c80dfb13224e1b" /><Relationship Type="http://schemas.openxmlformats.org/officeDocument/2006/relationships/notesMaster" Target="/ppt/notesMasters/notesMaster1.xml" Id="Rd472e2e656cd4d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d51fc02d2e4b68" /><Relationship Type="http://schemas.openxmlformats.org/officeDocument/2006/relationships/notesMaster" Target="/ppt/notesMasters/notesMaster1.xml" Id="R184080cfa58d44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5a2865cc034ec9" /><Relationship Type="http://schemas.openxmlformats.org/officeDocument/2006/relationships/notesMaster" Target="/ppt/notesMasters/notesMaster1.xml" Id="Rc2f85c26254a41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1c706f9b6a4421" /><Relationship Type="http://schemas.openxmlformats.org/officeDocument/2006/relationships/notesMaster" Target="/ppt/notesMasters/notesMaster1.xml" Id="R848006cef50540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7a13ca9e2d4e22" /><Relationship Type="http://schemas.openxmlformats.org/officeDocument/2006/relationships/notesMaster" Target="/ppt/notesMasters/notesMaster1.xml" Id="R671326cc389543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fe1a6ee37e432a" /><Relationship Type="http://schemas.openxmlformats.org/officeDocument/2006/relationships/notesMaster" Target="/ppt/notesMasters/notesMaster1.xml" Id="Rc49dfb908b504f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4fa1d93da84f56" /><Relationship Type="http://schemas.openxmlformats.org/officeDocument/2006/relationships/notesMaster" Target="/ppt/notesMasters/notesMaster1.xml" Id="Rb81164da463a46b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069a878ab634630" /><Relationship Type="http://schemas.openxmlformats.org/officeDocument/2006/relationships/notesMaster" Target="/ppt/notesMasters/notesMaster1.xml" Id="R7cd766cb45c34d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6841ae2df949d3" /><Relationship Type="http://schemas.openxmlformats.org/officeDocument/2006/relationships/notesMaster" Target="/ppt/notesMasters/notesMaster1.xml" Id="Rcee9d014e3054b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78331078e7840ea" /><Relationship Type="http://schemas.openxmlformats.org/officeDocument/2006/relationships/notesMaster" Target="/ppt/notesMasters/notesMaster1.xml" Id="Ra25e481a218d47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e5219df3d6494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f96c77921fb4e03" /><Relationship Type="http://schemas.openxmlformats.org/officeDocument/2006/relationships/slideLayout" Target="/ppt/slideLayouts/slideLayout2.xml" Id="R172800377f694c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2800377f694c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da8794a848450c" /><Relationship Type="http://schemas.openxmlformats.org/officeDocument/2006/relationships/notesSlide" Target="/ppt/notesSlides/notesSlide1.xml" Id="Rc85966207fe04e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36ba9885484407" /><Relationship Type="http://schemas.openxmlformats.org/officeDocument/2006/relationships/notesSlide" Target="/ppt/notesSlides/notesSlide2.xml" Id="R508dc67167dd4e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d75d6a75054d7a" /><Relationship Type="http://schemas.openxmlformats.org/officeDocument/2006/relationships/notesSlide" Target="/ppt/notesSlides/notesSlide3.xml" Id="R94941a070e9044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8b7a3c3ecb41dd" /><Relationship Type="http://schemas.openxmlformats.org/officeDocument/2006/relationships/notesSlide" Target="/ppt/notesSlides/notesSlide4.xml" Id="R036277eb03744d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73c511efa54ec8" /><Relationship Type="http://schemas.openxmlformats.org/officeDocument/2006/relationships/notesSlide" Target="/ppt/notesSlides/notesSlide5.xml" Id="R14ae1f053ece49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89abd97a374e64" /><Relationship Type="http://schemas.openxmlformats.org/officeDocument/2006/relationships/image" Target="/ppt/media/image.png" Id="Rfed679fb036047a1" /><Relationship Type="http://schemas.openxmlformats.org/officeDocument/2006/relationships/notesSlide" Target="/ppt/notesSlides/notesSlide6.xml" Id="Rcca1c4e370324a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f42c3ca2ce4ec6" /><Relationship Type="http://schemas.openxmlformats.org/officeDocument/2006/relationships/image" Target="/ppt/media/image2.png" Id="R7d43362183ec409a" /><Relationship Type="http://schemas.openxmlformats.org/officeDocument/2006/relationships/notesSlide" Target="/ppt/notesSlides/notesSlide7.xml" Id="Re88d9bc883b142b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360626168642b8" /><Relationship Type="http://schemas.openxmlformats.org/officeDocument/2006/relationships/image" Target="/ppt/media/image3.png" Id="R58037890672e4ed3" /><Relationship Type="http://schemas.openxmlformats.org/officeDocument/2006/relationships/image" Target="/ppt/media/image4.png" Id="Ra54e5e4469564775" /><Relationship Type="http://schemas.openxmlformats.org/officeDocument/2006/relationships/notesSlide" Target="/ppt/notesSlides/notesSlide8.xml" Id="Raed5ea176fcd41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b151d357384cc6" /><Relationship Type="http://schemas.openxmlformats.org/officeDocument/2006/relationships/image" Target="/ppt/media/image5.png" Id="R2d1bb68d11da4263" /><Relationship Type="http://schemas.openxmlformats.org/officeDocument/2006/relationships/image" Target="/ppt/media/image6.png" Id="R6d118b56ace64c27" /><Relationship Type="http://schemas.openxmlformats.org/officeDocument/2006/relationships/notesSlide" Target="/ppt/notesSlides/notesSlide9.xml" Id="R2d2b9d543b9849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7daccf5a6a467f" /><Relationship Type="http://schemas.openxmlformats.org/officeDocument/2006/relationships/notesSlide" Target="/ppt/notesSlides/notesSlide10.xml" Id="R0e1bbf9f25de48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f6c570d0ec4d57" /><Relationship Type="http://schemas.openxmlformats.org/officeDocument/2006/relationships/notesSlide" Target="/ppt/notesSlides/notesSlide11.xml" Id="Rdaa6a6c485c7428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9ad631e4f74ecd" /><Relationship Type="http://schemas.openxmlformats.org/officeDocument/2006/relationships/notesSlide" Target="/ppt/notesSlides/notesSlide12.xml" Id="Ra02115fd688c4e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676C0C-62FF-4291-ADC3-BA695B77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AAFB01-6C6A-4DD9-997B-27CB6FD7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1FE13-2555-4C96-9418-7DFD1206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333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795E6-D985-4FCC-A9F9-B4390FAA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38250"/>
            <a:ext cx="7048500" cy="60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BIOS / SMBIOS 适配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4DD63-7B21-44DF-A604-D5FD0238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85950"/>
            <a:ext cx="7239000" cy="60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与 AI 辅助工程闭环阶段汇报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A8541-2DE0-49FE-93BD-AC35BB32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81300"/>
            <a:ext cx="742950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客户需求交付 · SMBIOS 适配重构 · AI 辅助开发验证复核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659308-DE69-4623-A833-A827CF9B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9715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13B83B-0A1A-46EA-9821-136A82EE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71600"/>
            <a:ext cx="13906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06C750-DE02-4D82-A2FA-BC6F35F2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52600"/>
            <a:ext cx="11620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1725" b="1">
                <a:solidFill>
                  <a:srgbClr val="111827"/>
                </a:solidFill>
                <a:latin typeface="Menlo"/>
                <a:ea typeface="Menlo"/>
                <a:cs typeface="Menlo"/>
              </a:rPr>
              <a:t>SMBIOS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C5588-9051-44CB-9E7F-EBCB6FD3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114550"/>
            <a:ext cx="8191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AI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9EE01F-3EF0-4FDF-BA9D-6B1740B3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57700"/>
            <a:ext cx="590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CF89C-E97B-40D6-8E47-F452A0A5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05350"/>
            <a:ext cx="24765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140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273140"/>
                </a:solidFill>
                <a:latin typeface="Menlo"/>
                <a:ea typeface="Menlo"/>
                <a:cs typeface="Menlo"/>
              </a:rPr>
              <a:t>2026 年 5 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0DDF3B-0ECD-4DC0-8397-0900E223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10150"/>
            <a:ext cx="20955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研发工程组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E97752-79EB-43BE-8B7C-F32D221D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905500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SWISS ENGINEERING REPORT</a:t>
            </a:r>
          </a:p>
        </p:txBody>
      </p:sp>
    </p:spTree>
    <p:extLst>
      <p:ext uri="{BB962C8B-B14F-4D97-AF65-F5344CB8AC3E}">
        <p14:creationId xmlns:p14="http://schemas.microsoft.com/office/powerpoint/2010/main" val="16801960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0318EA-5BF9-45F7-B963-97F82035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3C65CF-42F0-4FFD-8795-83A3936C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27CFD-0DF2-4D4B-ABD6-3BC86625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EXECUTIVE SUMMARY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51A7C-2D69-410A-9D9C-56C3B7A8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本阶段完成客户可见信息适配，并跑通 SMBIOS 场景的 AI 辅助工程闭环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18188-5233-4788-A3A9-88101C55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5E068-E44C-4D89-BB4A-A84B4F2B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4F14E-D3E3-448F-A92F-4E05810E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2766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1BD8EB-B25F-48E7-B544-DA4AE6F8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792E6-984A-4178-8307-02C0C0B7C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5143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E3F00-9CCF-4FAC-8597-6AE88EFA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5745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客户问题闭环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AEF80-B0EF-4A4E-A5DF-A6A88ACB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2781300" cy="723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V3 遗留显示问题与 V5 新增问题单进入阶段处理，客户可见字段按需求适配。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DAE072-87B0-40E8-B3DD-AEEB8B7F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33600"/>
            <a:ext cx="32766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C832E-2A9B-4E75-B443-39023C50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3360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C83387-C6CB-410A-9A4E-43155208B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0300"/>
            <a:ext cx="5143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B886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12B886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741232-8D02-462F-B3A8-525A61D8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辅助提效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B21C91-6E6B-4BC6-BE42-21BC8356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86100"/>
            <a:ext cx="2781300" cy="723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Type8 / Type9 / Type11 / Type12 等 SMBIOS 模块进入 AI 辅助重构流程。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39813E-F531-419B-978E-A47ABAA5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2766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A4FC83-0814-481B-A11C-A27C4C5F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898E6-2778-48B9-88BE-14452C5D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00300"/>
            <a:ext cx="5143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59F00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59F00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67A0AB-2BBA-4378-9C06-69F16594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5745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质量过程可追踪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7731C8-7A2A-4958-9203-FCE914DC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86100"/>
            <a:ext cx="2781300" cy="723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SMBIOS 自动验证和 AI Review 开始沉淀日志、报告和风险处置记录。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73447C-730C-423D-B31D-07F143DC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0820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3A8AC5-E05A-4525-8D20-FAC564D9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72050"/>
            <a:ext cx="10477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边界说明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0D1DC4-3D79-4761-BE97-49FC914F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72050"/>
            <a:ext cx="8382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 AI 提效聚焦 SMBIOS 规则清晰、结果可比对的场景，不扩展为所有 BIOS 问题自动修复。</a:t>
            </a:r>
          </a:p>
        </p:txBody>
      </p:sp>
    </p:spTree>
    <p:extLst>
      <p:ext uri="{BB962C8B-B14F-4D97-AF65-F5344CB8AC3E}">
        <p14:creationId xmlns:p14="http://schemas.microsoft.com/office/powerpoint/2010/main" val="18093818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A70353-BEFB-4E17-8B6A-F1844ED2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BEA4B-6BBE-4C00-ADFF-2DBB327D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2BBC6F-15BA-479B-9257-2C90E41B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AGENDA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6EF93-AE70-4495-B233-ECCA7490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本次汇报围绕工作成果、重点工作和下一步计划展开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A92F0-667B-42BB-9DFC-C74467FB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94CFDE-2C89-478F-88CB-DEEBC970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54AA8-E656-4F06-B492-A86D031E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F80551-2C98-45AD-9DFD-433A0310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952500" cy="47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9CE40-8435-4751-BB1E-B9F8EF8F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38350"/>
            <a:ext cx="2476500" cy="342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工作成果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AAF251-ED1A-4E7B-91AE-B09702FB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24075"/>
            <a:ext cx="5524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客户需求响应、问题单闭环、AI 辅助工程闭环试点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2B374E-9676-442F-9C2A-C178F757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26B20-5175-47FE-975A-4C27153F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952500" cy="47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4B37EF-E6D2-4C95-BC6C-AA5B0A14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28975"/>
            <a:ext cx="2476500" cy="342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重点工作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0A5775-90B1-4292-B6CB-B535F22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14700"/>
            <a:ext cx="5524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Type9 重构、自动化验证、Type8/11/12 规范化移植、AI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F69CF2-4196-460B-B9AD-DC18D062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6A93FA-2695-40A6-8F43-8185F3E8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952500" cy="47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119FCA-B1D3-4EC7-8A81-D0E21FE5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19600"/>
            <a:ext cx="2476500" cy="342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下一步计划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5E2A9B-7D22-4E6C-9880-C562C447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05325"/>
            <a:ext cx="5524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沉淀 SMBIOS 开发生成和测试问题修复两条 Agent 工作流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D9B473-59B1-4C6B-A1B5-5897193C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</p:spTree>
    <p:extLst>
      <p:ext uri="{BB962C8B-B14F-4D97-AF65-F5344CB8AC3E}">
        <p14:creationId xmlns:p14="http://schemas.microsoft.com/office/powerpoint/2010/main" val="14334345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E53AB8-C37A-4405-94CF-3D482790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57AAF-1FB5-43B2-9BC8-CC8C6750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61DFE5-643E-4517-B810-DBB242F6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01 / WORK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BC1528-D66E-4F32-BE9E-DBCA89E0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V5 SMBIOS 客户可见字段适配和新增问题单完成阶段处理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A18D6B-E6B7-4B32-A456-B0D8DECB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992C7B-EF64-4604-8A48-DFEFBC5B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92B45-D6D1-4FDC-B313-46B43BDC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D10B42-E821-47E2-805C-E4BC45A6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66925"/>
            <a:ext cx="158877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E0909B-ED2D-4C0D-B751-24118FCF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2066925"/>
            <a:ext cx="532447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907B5A-2D5F-471F-AF71-D5904FB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0545" y="2066925"/>
            <a:ext cx="24974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状态口径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D07AB-12A5-489A-9147-14DB0747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A5B5B-397C-47DC-9436-D37F78E8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58877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V3 遗留问题闭环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0B0E7B-52C2-4879-A643-7B4570EC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2857500"/>
            <a:ext cx="5324475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修复 7 项 SMBIOS 显示问题，覆盖显示名异常、字段缺失、不显示等。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A25CD-558F-4279-B075-E41F8387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695" y="2895600"/>
            <a:ext cx="2383155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BE2B71-009B-4CBF-8209-49D122C5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45" y="2933700"/>
            <a:ext cx="21926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已上库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D1D1D7-BCDA-4D35-9045-C8FCAA70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F6CB58-E034-4E2A-BDFD-0C76E551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158877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V5 新增问题单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4B1ECD-009B-47E6-AA5B-42690319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3619500"/>
            <a:ext cx="5324475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按客户新增需求完成代码调整和目标环境验证。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4170EF-F549-42D4-9BCB-420DF94D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695" y="3657600"/>
            <a:ext cx="2383155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ED20EC-40DE-486B-BB23-5A1AF4B7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45" y="3695700"/>
            <a:ext cx="21926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问题单已关闭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CFCDD8-8574-4B9D-9CCE-916C75F4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A447D2-6D77-400C-A9B2-328B36E9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158877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Type2 主板信息上报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09C46D-E84F-4E6F-843A-0A80F2AC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4381500"/>
            <a:ext cx="5324475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整合 PCB / BOARD / SKU 等客户可见字段。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9C9CAF-2E1B-48AD-B84A-03B58BDE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695" y="4419600"/>
            <a:ext cx="2383155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A98A04-A811-429D-A01B-A08C648F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45" y="4457700"/>
            <a:ext cx="21926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已上库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DAD328-5B35-4596-A8E0-3E3D3439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A90980-454A-492A-92B2-2F15EB0C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158877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Type11 OEM 扩展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652D90-FC4C-4B6C-97BF-55E76901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5143500"/>
            <a:ext cx="5324475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动态上报 TDX 相关 OEM 扩展信息。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7A2505-E459-4065-BF7E-1DBC0C6B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695" y="5181600"/>
            <a:ext cx="2383155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60E105-4F1F-4073-AAAD-135B2158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45" y="5219700"/>
            <a:ext cx="21926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已上库</a:t>
            </a:r>
          </a:p>
        </p:txBody>
      </p:sp>
    </p:spTree>
    <p:extLst>
      <p:ext uri="{BB962C8B-B14F-4D97-AF65-F5344CB8AC3E}">
        <p14:creationId xmlns:p14="http://schemas.microsoft.com/office/powerpoint/2010/main" val="11938367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8E5E03-778E-4092-97A4-6AB13177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6BB01-FC4C-4E97-A1BC-9C8F2023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9349F-E758-4FAA-988F-629B562D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01 / WORK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B8F39-DCF6-4D38-BAB9-4C61AAE0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辅助已进入 SMBIOS 开发、验证、AI Review 流程，但仍由工程师确认结果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D7119-ED32-4276-96FC-05965C77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05401-2002-4D46-9FC8-D66A131C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6CB8F-1E92-485D-93EF-CA2DE99A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C4061-8C91-4E58-897A-D760D9B3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客户规则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历史实现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4D3F80-7919-4C13-94CB-2384563A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C8F440-B4F9-43EB-9A43-30717C5D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C7572-9551-4685-B5B8-AF2A6CAD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辅助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生成代码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A7412-1D63-4D4F-BAC8-634D4B34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31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5EC9A0-A5AB-4CC1-8ECE-F612C84C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09F87-39C9-4B51-8ABA-F416C4BE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自动化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验证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C6E02D-EC3D-4E90-9F25-49FA20A0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431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675EDA-4AD3-4668-A35D-5DAC9115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946D22-F281-4283-B8FA-55A32B46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851FF-D4DB-498B-981C-173C211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431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1A91CD-CECD-4F78-A0F0-02503904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99214A-C42C-44B6-91D5-6D44DFB0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人工确认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经验回流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7565B5-6710-466B-9118-E98A292B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05250"/>
            <a:ext cx="276225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E6F6C-7B41-4EF8-A661-A7EF7A6F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052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5111E7-5B16-4D93-AB25-0D9CE32C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23431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1,504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E5051D-1383-4162-B38B-A8F9D8A2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23431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行实现代码量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73C03D-99A8-4070-AA09-812695D2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9650"/>
            <a:ext cx="23431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Type9 相关规模参考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4E10C-3EB8-4A0C-B7BD-775AA877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905250"/>
            <a:ext cx="276225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A25C32-5590-4354-8399-4091F434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9052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9B678F-7747-4D40-8B75-886DFCAA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114800"/>
            <a:ext cx="23431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B886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12B886"/>
                </a:solidFill>
                <a:latin typeface="Menlo"/>
                <a:ea typeface="Menlo"/>
                <a:cs typeface="Menlo"/>
              </a:rPr>
              <a:t>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10F8D4-8712-4815-8C95-9AC69090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533900"/>
            <a:ext cx="23431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类数据采集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7C1F34-96F7-42F3-B000-6851364A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819650"/>
            <a:ext cx="23431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SMBIOS 自动验证范围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C9E84E-0E24-437B-97E3-F0DD994A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276225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8AEE04-0D1C-41E2-8FD1-2D98C083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310085-4BF4-4AC3-A5D3-EE0CBD5B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14800"/>
            <a:ext cx="23431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9F00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F59F00"/>
                </a:solidFill>
                <a:latin typeface="Menlo"/>
                <a:ea typeface="Menlo"/>
                <a:cs typeface="Menlo"/>
              </a:rPr>
              <a:t>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8715D9-0A86-4B34-8225-FEC7D5C8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533900"/>
            <a:ext cx="23431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正式误报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EB7F44-C2EC-4DC9-ABFA-222314D0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19650"/>
            <a:ext cx="23431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当前回归样本范围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C87341-8844-4672-8EBB-5CB84D8B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57850"/>
            <a:ext cx="8763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当前定位是辅助实现、辅助验证、辅助复核，不替代工程师判断。</a:t>
            </a:r>
          </a:p>
        </p:txBody>
      </p:sp>
    </p:spTree>
    <p:extLst>
      <p:ext uri="{BB962C8B-B14F-4D97-AF65-F5344CB8AC3E}">
        <p14:creationId xmlns:p14="http://schemas.microsoft.com/office/powerpoint/2010/main" val="3330639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F605C9-D310-4DDE-9C5D-38590212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640CD8-418C-4505-84C0-E66A269A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C0A7E-D35F-456B-A4B9-1D28B48D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02 / TYPE9 REFACTOR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A759D8-C6C7-47F3-BA94-DCED7EE0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Type9 多版型适配从“重复改代码”转为“维护显示规则”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3046F-75D0-4FFE-988A-49561BB8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7B6C3-2359-48C2-A637-B8497046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11931-4402-4215-A89B-02490B6C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3131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4A9F0-A60C-48C8-B513-F2C54C8F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716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改造前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D58FAF-7F5E-48CD-B34D-C5CA3FDA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2381250" cy="1524000"/>
          </a:xfrm>
          <a:prstGeom xmlns:a="http://schemas.openxmlformats.org/drawingml/2006/main" prst="roundRect">
            <a:avLst>
              <a:gd name="adj" fmla="val 1250"/>
            </a:avLst>
          </a:prstGeom>
          <a:solidFill xmlns:a="http://schemas.openxmlformats.org/drawingml/2006/main">
            <a:srgbClr val="FFF2F2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8524EC-D359-4D8C-8F65-179B2C89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051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3131"/>
          </a:solidFill>
          <a:ln xmlns:a="http://schemas.openxmlformats.org/drawingml/2006/main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C4A66-7751-4A7E-87BD-7CC29036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1657350" cy="47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板型、部署模式、节点配置散落在代码分支中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0496C-6F36-4D30-8280-4860EDE0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3131"/>
          </a:solidFill>
          <a:ln xmlns:a="http://schemas.openxmlformats.org/drawingml/2006/main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A377A6-BFBE-4513-83B2-6D231C72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76600"/>
            <a:ext cx="16573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新增版型需要继续改主流程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049155-6363-4E97-9D89-0D128B9C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621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5F5C1C-F27C-43F6-B4FD-D5DC549F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716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改造后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8CB134-4825-4B21-B58F-56ABA489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2381250" cy="1524000"/>
          </a:xfrm>
          <a:prstGeom xmlns:a="http://schemas.openxmlformats.org/drawingml/2006/main" prst="roundRect">
            <a:avLst>
              <a:gd name="adj" fmla="val 1250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65730A-8E6A-43E8-9C9D-789C48E6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051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1D1854-B2A9-497E-8D2E-896161C3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28900"/>
            <a:ext cx="1657350" cy="342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差异集中到显示规则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FF2BC0-90F5-490A-B2F9-C28B95B8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575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780E12-4615-4EDE-B560-55C55B1B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81350"/>
            <a:ext cx="1657350" cy="457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主流程只负责采集、选择、生成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52B05B-0EA2-4FC1-B156-666E7250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4953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  <p:txBody>
          <a:bodyPr xmlns:a="http://schemas.openxmlformats.org/drawingml/2006/main" lIns="171450" tIns="114300" rIns="171450" bIns="76200" anchor="ctr">
            <a:normAutofit fontScale="90987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3EA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B3EA8"/>
                </a:solidFill>
                <a:latin typeface="PingFang SC"/>
                <a:ea typeface="PingFang SC"/>
                <a:cs typeface="PingFang SC"/>
              </a:rPr>
              <a:t>底层槽位信息 → 统一槽位编号 → 显示规则 → 客户可见槽位名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965CF5-5DB2-4A2E-A1C4-649454F0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504825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新增版型优先补显示规则，不反复改核心流程；减少现场拼接显示名带来的误显示风险。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679fb036047a1"/>
          <a:stretch xmlns:a="http://schemas.openxmlformats.org/drawingml/2006/main"/>
        </p:blipFill>
        <p:spPr>
          <a:xfrm xmlns:a="http://schemas.openxmlformats.org/drawingml/2006/main">
            <a:off x="7352802" y="1885950"/>
            <a:ext cx="2744195" cy="37909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4B78CB-EEB0-4234-B2EE-D97CF61C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753100"/>
            <a:ext cx="4762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Type9 重构设计截图</a:t>
            </a:r>
          </a:p>
        </p:txBody>
      </p:sp>
    </p:spTree>
    <p:extLst>
      <p:ext uri="{BB962C8B-B14F-4D97-AF65-F5344CB8AC3E}">
        <p14:creationId xmlns:p14="http://schemas.microsoft.com/office/powerpoint/2010/main" val="10103282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C57110-4DE5-47A0-9C66-6F760F0E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B25D8-09C9-480B-81DB-B961ACAF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49407-18F9-4D3B-9B26-F55013C3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02 / SPEC-DRIVEN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173249-0F09-47B7-8625-8B6256FA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Type9 重构通过“规格先行、AI 辅助生成、人工验收”完成落地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B5251-C981-42A9-AC3B-87F5AF76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4F550-125A-45AA-BE7D-4C0C6A38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227FE8-F757-43A3-BBD4-56D7D8BC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2DC450-207C-40C5-A8DF-AC804FF5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客户规则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532416-7D98-4F33-815E-FF7092F4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28600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62BA5C-8CAC-4136-AE1B-FF588A08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9550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FDD620-AE3C-4047-A80F-94A93E18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0980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结构化规则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338D00-824A-4F2A-AA16-4D2253A9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8600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F7511D-B9F9-4C45-B4E2-0994BB6F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09550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664EE7-BB6F-4486-9014-54EFD409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0980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设计文档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FE45A4-5A07-4729-92BA-80468813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AA6597-9526-4A6E-811D-04125C31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辅助实现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97CCCF-B6D8-4667-882A-5663C611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4099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7F7EAF-E293-44A0-9601-5185CE82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1945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F23425-3D0E-4B96-B422-E30F380E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3375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编译验证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2EB62F-86B5-4753-9CCA-8034D5A1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099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96A93B-3A8F-489D-829A-3BE10A4E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1945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2E79EC-174A-494C-B4FC-9A1226E0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33375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人工验收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619951-0867-4FD2-89BD-25C1435E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FC5698-C8ED-471E-B0B5-110D47E0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386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规则点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22B12A-12DD-4FF6-9226-977E429C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DA0718-2EC2-4BCC-8C9B-7F4F7F59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48250"/>
            <a:ext cx="22288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规则冲突提前报错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7D025-661B-450B-8F87-94C62DB9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214870-DB1C-41D6-9C8F-2A5D6272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48300"/>
            <a:ext cx="22288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异常路径可追踪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F67866-E23E-41E1-9AD5-6CCA10B0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24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01E62B-C4AD-4EF5-A6C8-AD75CF20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048250"/>
            <a:ext cx="22288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典型版型回归验证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66791C-F2BD-4C57-A41D-AAE1C80A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5245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7889E9-AC7A-4428-9060-A72948FB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448300"/>
            <a:ext cx="22288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人工确认后合入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43362183ec409a"/>
          <a:stretch xmlns:a="http://schemas.openxmlformats.org/drawingml/2006/main"/>
        </p:blipFill>
        <p:spPr>
          <a:xfrm xmlns:a="http://schemas.openxmlformats.org/drawingml/2006/main">
            <a:off x="7409487" y="1885950"/>
            <a:ext cx="2726076" cy="379095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38AEB9-5501-4D1F-B73E-130DC3B7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753100"/>
            <a:ext cx="466725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SpecCode 输出截图</a:t>
            </a:r>
          </a:p>
        </p:txBody>
      </p:sp>
    </p:spTree>
    <p:extLst>
      <p:ext uri="{BB962C8B-B14F-4D97-AF65-F5344CB8AC3E}">
        <p14:creationId xmlns:p14="http://schemas.microsoft.com/office/powerpoint/2010/main" val="2690860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350073-E3AD-456B-8592-A5926659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B00FC-D444-4DD0-8E7F-5BCD20D6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111C9-A49B-4E8D-831E-22D2C80D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03 / VALIDATION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B13E8-B954-4DB6-9883-A6F5A02A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SMBIOS 验证从“人工多环境切换”沉淀为可追踪自动化流程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3C5AC-65DC-4BA2-B676-7EAD85F3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8CD2FC-634E-479F-A126-58DEB44B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D9642-ED9C-4782-B6EE-0B2A0E2C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669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E445E4-414B-4AF4-9EC7-C50F6806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2CDF5-4D9B-499D-9570-88FA7E3B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38350"/>
            <a:ext cx="2286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BIOS 上传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B4AE6-D913-49F0-AE5C-2CB151F7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1457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212512-8A61-4875-B0F2-A90406C2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574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1DEBAB-7DF9-4052-9A88-0095B3FF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B47E37-8122-4204-A1FF-3A0E422E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28900"/>
            <a:ext cx="2286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SHA256 校验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425506-B03A-4F74-B611-5D4BF493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0512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466443-019A-4654-9192-C3BF8930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480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B13907-C37E-4AF2-99F2-3A63D8FF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9AE0D7-087A-4704-95DB-4C26C963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2286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远程刷写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15EC89-BF78-4286-B553-37C164DE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49567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6FE745-2BC2-4002-826F-6AB4E158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F77433-A2F5-445A-84A0-D65F654A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A127B2-106E-40E9-B4FA-AC0B4923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0"/>
            <a:ext cx="2286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人工确认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7C8EDF-D701-437E-88F8-E7D18ECB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08622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632B87-95E7-4F25-9630-3E340223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F61057-52FA-4DC8-B3FC-37354731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149A04-87BB-467B-8691-78B0886C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2286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系统侧采集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1C7E9A-79ED-4E37-95C6-279ABE52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67677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6D5DB6-9A6F-407E-BFD5-51DC66D0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96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ABA21E-EE8C-42A5-996E-76888997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4825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C23D3A-8B59-4811-A454-F17DE1A5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91100"/>
            <a:ext cx="2286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报告生成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393FCD-7B11-4475-8E00-D0894512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38350"/>
            <a:ext cx="2190750" cy="2381250"/>
          </a:xfrm>
          <a:prstGeom xmlns:a="http://schemas.openxmlformats.org/drawingml/2006/main" prst="roundRect">
            <a:avLst>
              <a:gd name="adj" fmla="val 8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165AC0-1FBF-4AC6-9784-16A8740F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286000"/>
            <a:ext cx="1524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覆盖范围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FBABB9-BFAC-4FB9-A1FC-1E58B270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765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13D38D-4570-426A-A037-C8154484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00350"/>
            <a:ext cx="1466850" cy="304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688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9 类 SMBIOS 数据采集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6C8D07-2ECE-45D4-A105-F5B9F0AE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14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22A05B-5FD2-48D5-9185-D892BFCB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14668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保留刷写前人工确认点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A83463-274E-4C0A-BBBA-476C2F25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829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F5D5EF-F1D2-4F02-A462-484E3ADC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52850"/>
            <a:ext cx="14668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输出原始日志和结构化报告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037890672e4ed3"/>
          <a:stretch xmlns:a="http://schemas.openxmlformats.org/drawingml/2006/main"/>
        </p:blipFill>
        <p:spPr>
          <a:xfrm xmlns:a="http://schemas.openxmlformats.org/drawingml/2006/main">
            <a:off x="6509939" y="1809750"/>
            <a:ext cx="2601121" cy="379095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B8023E-71A8-4E03-9343-FFC029B5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76900"/>
            <a:ext cx="2857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验证日志截图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4e5e4469564775"/>
          <a:stretch xmlns:a="http://schemas.openxmlformats.org/drawingml/2006/main"/>
        </p:blipFill>
        <p:spPr>
          <a:xfrm xmlns:a="http://schemas.openxmlformats.org/drawingml/2006/main">
            <a:off x="9429750" y="2703869"/>
            <a:ext cx="1809750" cy="2002712"/>
          </a:xfrm>
          <a:prstGeom xmlns:a="http://schemas.openxmlformats.org/drawingml/2006/main" prst="rect">
            <a:avLst/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6949649-7183-411A-ADD3-9B183B90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676900"/>
            <a:ext cx="180975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dmidecode 输出截图</a:t>
            </a:r>
          </a:p>
        </p:txBody>
      </p:sp>
    </p:spTree>
    <p:extLst>
      <p:ext uri="{BB962C8B-B14F-4D97-AF65-F5344CB8AC3E}">
        <p14:creationId xmlns:p14="http://schemas.microsoft.com/office/powerpoint/2010/main" val="19573454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7652BC-24A0-4038-B42A-82EF5E00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134DE4-1E73-4AB6-8260-EE021604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C21895-CA0C-4263-8D8F-2C6AA82D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03 / AI REFACTOR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89DCA-655F-434A-9789-6D7FE4A4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Type8 / Type11 / Type12 已验证 AI 适合规范化移植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E99B7-DAF8-4FC2-B090-4E0B75E3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691AB-8F31-4926-8AA5-5B976A79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15EDE-8A4C-4B20-B6B0-E6DEF08C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BBD43A-230A-4E46-A5D1-69AF8F83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85034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客户规则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旧平台实现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794565-45D4-4F92-AF25-B1CC160A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669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0E31ED-AFAB-47A3-92DC-D5D8D654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66F3A-9183-4C19-8ED7-B4252D79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规则整理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44B21C-3571-4C2D-BB20-E2A49E39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669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D1AE83-BC35-48A1-9332-6C97F525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605AD8-5C89-4C06-8C74-EBA5F639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生成 V5 实现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A568C0-BD91-490C-A7DD-3127298F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669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C43B5C-7F9E-45E2-9B40-47D02E00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A924CC-3787-434B-AB49-436A6B9A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人工复核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BECB87-6A4D-4FD2-ABC6-2AD1DC46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79FDE9-FDF8-4DED-9C8F-2966C348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10B25B-3F51-4DC3-A85E-D57B7E90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编译测试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E5DBC-0EF7-42EF-9176-566AD1EA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29000"/>
            <a:ext cx="2714625" cy="1428750"/>
          </a:xfrm>
          <a:prstGeom xmlns:a="http://schemas.openxmlformats.org/drawingml/2006/main" prst="roundRect">
            <a:avLst>
              <a:gd name="adj" fmla="val 133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A80FCB-76B9-4F5F-B1C0-F03AF5EA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76650"/>
            <a:ext cx="8572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801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2.0 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C55F5F-FBE9-4A64-A8C3-E2B4532D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676650"/>
            <a:ext cx="3048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A3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A3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2C0D3-8090-4728-94D3-3FD17159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76650"/>
            <a:ext cx="9715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9755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0.5 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75F0B8-5A51-4B66-8B9A-2797E652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67200"/>
            <a:ext cx="18097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DE7F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DDE7F5"/>
                </a:solidFill>
                <a:latin typeface="PingFang SC"/>
                <a:ea typeface="PingFang SC"/>
                <a:cs typeface="PingFang SC"/>
              </a:rPr>
              <a:t>以 Type8 / Type11 / Type12 移植试点为例，正式汇报需标注样本口径。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787808-01B5-4063-9053-8AB4D173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81600"/>
            <a:ext cx="81915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B7438D-1D0E-48F1-AF2A-22F8794E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6286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Type8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F622D7-6B0D-4FE6-A3B6-4B16E02F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81600"/>
            <a:ext cx="81915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A64A5F-D36D-446B-A6FC-50DA8FE2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219700"/>
            <a:ext cx="6286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Type11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2A1D6E-4756-48E8-82D3-49137299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81600"/>
            <a:ext cx="81915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30E2EB-1468-4E94-8629-2ECC6B46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219700"/>
            <a:ext cx="6286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Type12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bb68d11da4263"/>
          <a:stretch xmlns:a="http://schemas.openxmlformats.org/drawingml/2006/main"/>
        </p:blipFill>
        <p:spPr>
          <a:xfrm xmlns:a="http://schemas.openxmlformats.org/drawingml/2006/main">
            <a:off x="6096000" y="1824245"/>
            <a:ext cx="2524125" cy="3761959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F6590B-3161-4354-86ED-CFE3119A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24125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任务拆解截图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18b56ace64c27"/>
          <a:stretch xmlns:a="http://schemas.openxmlformats.org/drawingml/2006/main"/>
        </p:blipFill>
        <p:spPr>
          <a:xfrm xmlns:a="http://schemas.openxmlformats.org/drawingml/2006/main">
            <a:off x="8839200" y="2422966"/>
            <a:ext cx="2428875" cy="2564519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1B82BE-56FA-451E-8173-1B15FE72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428875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检查项截图</a:t>
            </a:r>
          </a:p>
        </p:txBody>
      </p:sp>
    </p:spTree>
    <p:extLst>
      <p:ext uri="{BB962C8B-B14F-4D97-AF65-F5344CB8AC3E}">
        <p14:creationId xmlns:p14="http://schemas.microsoft.com/office/powerpoint/2010/main" val="12401659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95EE07-025F-4E14-9638-EFB35E40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46555-3284-45D0-8733-64F44DDA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0D869-BD4A-47EB-BC8F-B7D1050B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04 / AI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9D5557-F92C-4EAB-9C25-89615D71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Review 从“结果展示”升级为“过程可回溯的风险处置”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AEC38E-5DE2-4D40-8852-832CC341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3EBB4-9A78-4DCA-A3AD-99C619F6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831812-FE38-44D3-B53B-9A38BDC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BA531E-6F14-40E6-B507-50C2165B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97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旧链路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FE2756-1AEF-46FB-9C3A-776A2B2B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11239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3B1635-A935-40B5-8A7D-83D0E381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90800"/>
            <a:ext cx="8953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触发审查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937797-2BA3-4F7F-932A-B9E0479E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6700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F02A03-E50A-4E5B-A785-05D27695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476500"/>
            <a:ext cx="1257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EEB2A-83D7-4D88-9119-1169E744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90800"/>
            <a:ext cx="1028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输出结果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414662-9C5A-4DD0-A63C-7B38A2CC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6700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E65D81-22AA-449F-BC90-FEC33B81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476500"/>
            <a:ext cx="1390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DF1540-8E94-49F2-A316-D5E30340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90800"/>
            <a:ext cx="11620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网页展示评论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7A20C3-FB5E-4AC9-8C97-C02E9C8F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38350"/>
            <a:ext cx="3219450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E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E915A-F254-46AF-B051-71DCE093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286000"/>
            <a:ext cx="27241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截图位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0924B6-A8FA-423C-89C2-558B0E67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76600"/>
            <a:ext cx="2571750" cy="514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Review 页面 / 评审结果截图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3520C8-7B9C-43E1-BCE0-911A626C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48150"/>
            <a:ext cx="249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9273BA-BDB5-4D3B-8C18-6A82E522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343400"/>
            <a:ext cx="25717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后续替换为实际截图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2075B7-4770-44CF-A3FB-BF2C8B11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9A1C64-7371-4406-B714-C61DC5CB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新链路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771EE6-EAE3-4451-9B55-391D137B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8572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1931FC-9976-448A-BD35-CE5146C8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6286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代码变更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BC9644-F94C-4646-8539-CDAEE60D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434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427800-81C4-4958-AC5E-F834C3E3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552950"/>
            <a:ext cx="8572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DD4724-CB46-4C14-A808-4D7C325D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667250"/>
            <a:ext cx="6286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上下文材料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C01599-0DAD-4C78-82CA-E2ED789E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434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4BE15F-ADC6-437F-9679-37317E47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552950"/>
            <a:ext cx="8572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E87111-16AE-4E4A-955F-7F5D71BE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6286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完整性检查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5A8F50-5C42-474E-9E0F-88CA1B6E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7434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E04085-50ED-4B92-9A30-3830DC9C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52950"/>
            <a:ext cx="8572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BF0486-633F-4F5F-B253-15ED1701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67250"/>
            <a:ext cx="6286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风险识别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3E4239-BBAE-4B14-B273-D39B1635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434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547C1D-6CB6-40F0-A79A-70B549BD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52950"/>
            <a:ext cx="8572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0AC3DC2-7C4E-4997-A5FF-1307F29D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67250"/>
            <a:ext cx="6286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复核校验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9AE81A-3231-4E85-9EEC-C200F375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434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68DA98-D42E-4FA8-9BA7-C1BF5074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52950"/>
            <a:ext cx="8572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271E0F-8EFE-4D6C-BA95-E04B9B2E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6286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88534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Review 页面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B6E78D-F6A9-49FA-A4CD-07B8183F2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972050"/>
            <a:ext cx="32194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07F872-FDAF-4277-BF6F-319A3CC8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05400"/>
            <a:ext cx="27241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Review 留痕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0446FE-29C6-48E9-BA94-F06AF274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372100"/>
            <a:ext cx="27241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保留上下文材料、识别过程和处置记录。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9019AF-1A24-4A29-9FA1-7CDF1934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62600"/>
            <a:ext cx="5810250" cy="533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1503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团队仍通过 AI Review 页面查看最终结果；后台增加上下文材料和过程记录，用于解释“为什么报 / 为什么不报”。</a:t>
            </a:r>
          </a:p>
        </p:txBody>
      </p:sp>
    </p:spTree>
    <p:extLst>
      <p:ext uri="{BB962C8B-B14F-4D97-AF65-F5344CB8AC3E}">
        <p14:creationId xmlns:p14="http://schemas.microsoft.com/office/powerpoint/2010/main" val="10533834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BEBE18-0A39-4146-84C6-D5E636AA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D55B2-9B15-4E97-8705-45909677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ED0656-9C9D-4C26-9F26-CC66F4CD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20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04 / AI REVIEW VALIDATION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219C0-DF8B-457F-B40C-185EC8EB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代表样本回放用于验证风险是否进入 AI Review 可见路径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1D760-1A6B-4E56-A600-DCDE9A61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50E78-CF98-4EB0-BD0C-9721DFFF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025510-B4D3-405A-B551-63218D7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2381250" cy="1428750"/>
          </a:xfrm>
          <a:prstGeom xmlns:a="http://schemas.openxmlformats.org/drawingml/2006/main" prst="roundRect">
            <a:avLst>
              <a:gd name="adj" fmla="val 1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223E71-FE5D-4632-95FF-A359E3BC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05050"/>
            <a:ext cx="14287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0313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E03131"/>
                </a:solidFill>
                <a:latin typeface="PingFang SC"/>
                <a:ea typeface="PingFang SC"/>
                <a:cs typeface="PingFang SC"/>
              </a:rPr>
              <a:t>风险样本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13973-F536-49D0-98A3-7B973E17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17145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279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用历史问题反向还原，观察模型能否识别风险。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2603CF-CA4C-433E-9630-D75554E1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38350"/>
            <a:ext cx="2381250" cy="1428750"/>
          </a:xfrm>
          <a:prstGeom xmlns:a="http://schemas.openxmlformats.org/drawingml/2006/main" prst="roundRect">
            <a:avLst>
              <a:gd name="adj" fmla="val 1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C1995-5956-4171-9D55-43A1F97C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05050"/>
            <a:ext cx="14287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负样本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348D3F-F84C-49EC-A005-7AC1F368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81300"/>
            <a:ext cx="17145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825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用正常兼容性修改和字符串清理，观察是否被误报。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8AB191-3F3C-4CF4-BF18-086DCDAB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38350"/>
            <a:ext cx="3486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E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1AB3E3-7EB1-43F2-945D-84D45082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86000"/>
            <a:ext cx="29908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截图位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A66204-9AF3-4B7E-87EF-CE42D099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90900"/>
            <a:ext cx="2838450" cy="514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风险识别结果 / 正式问题项截图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FD72E-9040-4499-AC93-E55E1B05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767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852FE1-489A-4E7A-AF44-0C6277DC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72000"/>
            <a:ext cx="28384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后续替换为实际截图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A34DF-1709-441C-8135-7A6B61B3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90500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2F9BF-5D85-4DD4-83DA-8ACD4A1F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90A7C6-E2C1-4B35-96EB-CB4077D4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4859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4/4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0AA0F7-0541-44C9-AAE6-24334DA8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24400"/>
            <a:ext cx="14859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风险样本识别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95291C-A3B2-47C7-AF59-030896C8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0150"/>
            <a:ext cx="14859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规划阶段触达风险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EB5720-E00B-427E-8099-3A25258C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190500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762210-E2B1-443A-A7A8-3815E469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03D8F9-D7E0-470C-8EB4-B2867C7E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305300"/>
            <a:ext cx="14859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9F00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F59F00"/>
                </a:solidFill>
                <a:latin typeface="Menlo"/>
                <a:ea typeface="Menlo"/>
                <a:cs typeface="Menlo"/>
              </a:rPr>
              <a:t>可见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F52192-A0F7-491A-8279-9B0D7908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724400"/>
            <a:ext cx="14859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处置路径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E6DC95-84B8-44E0-80B2-2FCDD5FF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010150"/>
            <a:ext cx="14859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部分风险进入正式问题或复核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BF50FC-681E-42EC-A0DF-7F206B37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095750"/>
            <a:ext cx="190500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7943F6-2CEA-4315-8BB2-9D34F3CC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0957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500EDF-1DD5-415A-8544-9C56A321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305300"/>
            <a:ext cx="14859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B886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12B886"/>
                </a:solidFill>
                <a:latin typeface="Menlo"/>
                <a:ea typeface="Menlo"/>
                <a:cs typeface="Menlo"/>
              </a:rPr>
              <a:t>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08C71C-8F6C-48D1-A128-2C238E70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724400"/>
            <a:ext cx="14859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新增正式误报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DACBFE-F324-4E94-B321-855280C4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010150"/>
            <a:ext cx="14859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负样本当前范围内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3DA328-0420-498F-989F-76565901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00650"/>
            <a:ext cx="3486150" cy="7239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D4526E-C99B-4810-8B5F-FC53FF64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391150"/>
            <a:ext cx="114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结论边界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63DE9D-A497-401C-B299-61089F5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391150"/>
            <a:ext cx="161925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该页只说明链路改善，不扩大为全场景准确率结论。</a:t>
            </a:r>
          </a:p>
        </p:txBody>
      </p:sp>
    </p:spTree>
    <p:extLst>
      <p:ext uri="{BB962C8B-B14F-4D97-AF65-F5344CB8AC3E}">
        <p14:creationId xmlns:p14="http://schemas.microsoft.com/office/powerpoint/2010/main" val="530636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D57FB0-6E83-4623-A1F0-CE070F3D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CD089-B5BD-4F50-BCE2-BD88365A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A17D0-D780-4A80-A6C9-70119AB0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NEXT STEP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FDDC7-6F89-4133-B533-E219E956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下一步聚焦 SMBIOS 可观测问题，沉淀开发生成和测试修复两条 Agent 流程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35C523-2BF2-4E11-80E3-F18E76BD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CEB50-740F-462E-BA1F-578F7001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7AAEB-7105-4D25-92A7-70255279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762500" cy="2952750"/>
          </a:xfrm>
          <a:prstGeom xmlns:a="http://schemas.openxmlformats.org/drawingml/2006/main" prst="roundRect">
            <a:avLst>
              <a:gd name="adj" fmla="val 6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2EEC0-2621-4825-9B91-35D54E94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76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D05FEF-3E63-4BC7-BAF8-AC56B98F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2476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开发阶段工作流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AC8BAD-B363-47AF-8BA5-AFC54608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3857625" cy="914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3EA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B3EA8"/>
                </a:solidFill>
                <a:latin typeface="PingFang SC"/>
                <a:ea typeface="PingFang SC"/>
                <a:cs typeface="PingFang SC"/>
              </a:rPr>
              <a:t>需求 / 客户规则 → 规格文档 → opencode skills → AI 辅助生成代码 → 自动化验证 → 人工验收 → 上库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BB30A-4E3D-4D52-B000-BE66CC1D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36766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适用：规则清晰、字段边界明确、输出可比对的 SMBIOS 模块。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EC9F54-9C90-4C57-AB2F-F78E6CF0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85950"/>
            <a:ext cx="4762500" cy="2952750"/>
          </a:xfrm>
          <a:prstGeom xmlns:a="http://schemas.openxmlformats.org/drawingml/2006/main" prst="roundRect">
            <a:avLst>
              <a:gd name="adj" fmla="val 6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E89D0E-B692-4062-A49B-78063345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85950"/>
            <a:ext cx="476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D00DAE-7297-4CAD-9C61-FD12F0A7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2476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测试问题工作流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591DBC-CF86-4D5E-AC5A-ED3A406F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00350"/>
            <a:ext cx="3857625" cy="990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>自动验证发现差异 → Agent 读取日志和代码 → 定位上报路径 → 输出修复建议 → 工程师确认 → 复测回归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88C777-F230-4704-B34E-D18A9BC2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3771900" cy="457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适用：字段缺失、显示异常、客户可见信息不一致、配置开关导致上报缺失。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C4565-1517-4212-AB08-9039A28F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E097F6-3B7C-4C7B-ABB8-F29F42E3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5905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34524A-4993-420D-9C2C-AFD4B5E7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381625"/>
            <a:ext cx="81724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不做泛化 BIOS Bug 自动修复；启动失败、硬件链路异常、时序不稳定、偶发平台问题不纳入本轮闭环。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1050E3-FE8B-4A64-AD73-F3107DFB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62650"/>
            <a:ext cx="8953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验收：选取 2-3 类 SMBIOS 显示 / 字段问题，保留验证报告、定位记录、修复建议、人工确认和复测结果。</a:t>
            </a:r>
          </a:p>
        </p:txBody>
      </p:sp>
    </p:spTree>
    <p:extLst>
      <p:ext uri="{BB962C8B-B14F-4D97-AF65-F5344CB8AC3E}">
        <p14:creationId xmlns:p14="http://schemas.microsoft.com/office/powerpoint/2010/main" val="183773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2026-05-28T00:03:54.9560000Z</dcterms:created>
  <dcterms:modified xsi:type="dcterms:W3CDTF">2026-05-28T00:03:54.9560000Z</dcterms:modified>
</coreProperties>
</file>